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6" r:id="rId12"/>
    <p:sldId id="266" r:id="rId13"/>
    <p:sldId id="267" r:id="rId14"/>
    <p:sldId id="270" r:id="rId15"/>
    <p:sldId id="271" r:id="rId16"/>
    <p:sldId id="288" r:id="rId17"/>
    <p:sldId id="287" r:id="rId18"/>
    <p:sldId id="283" r:id="rId19"/>
    <p:sldId id="284" r:id="rId20"/>
    <p:sldId id="28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0" dt="2026-10-01T04:06:49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638FB-DB03-4D92-A8C2-4ECB0ED84255}" type="datetimeFigureOut"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7734D-4422-4070-A022-940A0C60EA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itl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600200"/>
            <a:ext cx="91440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002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Collaboration Ecosystem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Service Integrations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D9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Groups, Outlook, Teams, SharePoint, OneDrive and Copilot</a:t>
            </a:r>
            <a:endParaRPr lang="en-US" sz="1900" dirty="0"/>
          </a:p>
        </p:txBody>
      </p:sp>
      <p:sp>
        <p:nvSpPr>
          <p:cNvPr id="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720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</a:t>
            </a:r>
            <a:endParaRPr lang="en-US" sz="1200" dirty="0"/>
          </a:p>
        </p:txBody>
      </p:sp>
      <p:sp>
        <p:nvSpPr>
          <p:cNvPr id="8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9504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2889504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0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0288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5B5FC7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1200" dirty="0"/>
          </a:p>
        </p:txBody>
      </p:sp>
      <p:sp>
        <p:nvSpPr>
          <p:cNvPr id="12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038387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1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0364B8"/>
          </a:solidFill>
          <a:ln/>
        </p:spPr>
      </p:sp>
      <p:sp>
        <p:nvSpPr>
          <p:cNvPr id="15" name="Text 13"/>
          <p:cNvSpPr/>
          <p:nvPr/>
        </p:nvSpPr>
        <p:spPr>
          <a:xfrm>
            <a:off x="7991856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200" dirty="0"/>
          </a:p>
        </p:txBody>
      </p:sp>
      <p:sp>
        <p:nvSpPr>
          <p:cNvPr id="1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92640" y="4206240"/>
            <a:ext cx="1591056" cy="457200"/>
          </a:xfrm>
          <a:prstGeom prst="roundRect">
            <a:avLst>
              <a:gd name="adj" fmla="val 40000"/>
            </a:avLst>
          </a:prstGeom>
          <a:solidFill>
            <a:srgbClr val="8661C5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42062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 of each service  ·  How they differ  ·  How they integrate  ·  Where content is stored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collaboration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primary purposes, one shared foundation of identity, permissions and content</a:t>
            </a:r>
            <a:endParaRPr lang="en-US" sz="1400" dirty="0"/>
          </a:p>
        </p:txBody>
      </p:sp>
      <p:sp>
        <p:nvSpPr>
          <p:cNvPr id="5" name="Copilot lay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11064240" cy="658368"/>
          </a:xfrm>
          <a:prstGeom prst="rect">
            <a:avLst/>
          </a:prstGeom>
          <a:solidFill>
            <a:srgbClr val="F2EBFA"/>
          </a:solidFill>
          <a:ln w="12700">
            <a:solidFill>
              <a:srgbClr val="D9C7F0"/>
            </a:solidFill>
            <a:prstDash val="solid"/>
          </a:ln>
        </p:spPr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658368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  </a:t>
            </a:r>
            <a:r>
              <a:rPr lang="en-US" sz="14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layer working across the information each user is authorised to access</a:t>
            </a:r>
            <a:endParaRPr lang="en-US" sz="1400" dirty="0"/>
          </a:p>
        </p:txBody>
      </p:sp>
      <p:sp>
        <p:nvSpPr>
          <p:cNvPr id="8" name="produc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1284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12848"/>
            <a:ext cx="265176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12" name="produc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221284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2212848"/>
            <a:ext cx="2651760" cy="73152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5F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7016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Channels, posts, chats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Meetings</a:t>
            </a:r>
            <a:endParaRPr lang="en-US" sz="1200" dirty="0"/>
          </a:p>
        </p:txBody>
      </p:sp>
      <p:sp>
        <p:nvSpPr>
          <p:cNvPr id="16" name="produc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221284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2212848"/>
            <a:ext cx="2651760" cy="73152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83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64224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Sites and pages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libraries</a:t>
            </a:r>
            <a:endParaRPr lang="en-US" sz="1200" dirty="0"/>
          </a:p>
        </p:txBody>
      </p:sp>
      <p:sp>
        <p:nvSpPr>
          <p:cNvPr id="20" name="produc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70264" y="221284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70264" y="2212848"/>
            <a:ext cx="2651760" cy="73152"/>
          </a:xfrm>
          <a:prstGeom prst="rect">
            <a:avLst/>
          </a:prstGeom>
          <a:solidFill>
            <a:srgbClr val="0364B8"/>
          </a:solidFill>
          <a:ln/>
        </p:spPr>
      </p:sp>
      <p:sp>
        <p:nvSpPr>
          <p:cNvPr id="22" name="Text 20"/>
          <p:cNvSpPr/>
          <p:nvPr/>
        </p:nvSpPr>
        <p:spPr>
          <a:xfrm>
            <a:off x="9171432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4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71432" y="2724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ownership</a:t>
            </a:r>
            <a:endParaRPr lang="en-US" sz="1200" dirty="0"/>
          </a:p>
        </p:txBody>
      </p:sp>
      <p:sp>
        <p:nvSpPr>
          <p:cNvPr id="24" name="Groups foundation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11880"/>
            <a:ext cx="8083296" cy="6583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11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  ·  shared membership and connected resources for Outlook, Teams and SharePoint</a:t>
            </a:r>
            <a:endParaRPr lang="en-US" sz="1250" dirty="0"/>
          </a:p>
        </p:txBody>
      </p:sp>
      <p:sp>
        <p:nvSpPr>
          <p:cNvPr id="26" name="personal scop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0" y="3611880"/>
            <a:ext cx="265176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0364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36118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4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scope: individual ownership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INTEGRATED SERVICES</a:t>
            </a:r>
            <a:endParaRPr lang="en-US" sz="1100" dirty="0"/>
          </a:p>
        </p:txBody>
      </p:sp>
      <p:sp>
        <p:nvSpPr>
          <p:cNvPr id="29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</a:t>
            </a:r>
            <a:endParaRPr lang="en-US" sz="1200" dirty="0"/>
          </a:p>
        </p:txBody>
      </p:sp>
      <p:sp>
        <p:nvSpPr>
          <p:cNvPr id="31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14016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32" name="Text 30"/>
          <p:cNvSpPr/>
          <p:nvPr/>
        </p:nvSpPr>
        <p:spPr>
          <a:xfrm>
            <a:off x="2414016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</a:t>
            </a:r>
            <a:endParaRPr lang="en-US" sz="1200" dirty="0"/>
          </a:p>
        </p:txBody>
      </p:sp>
      <p:sp>
        <p:nvSpPr>
          <p:cNvPr id="33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9392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34" name="Text 32"/>
          <p:cNvSpPr/>
          <p:nvPr/>
        </p:nvSpPr>
        <p:spPr>
          <a:xfrm>
            <a:off x="4279392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OneNote</a:t>
            </a:r>
            <a:endParaRPr lang="en-US" sz="1200" dirty="0"/>
          </a:p>
        </p:txBody>
      </p:sp>
      <p:sp>
        <p:nvSpPr>
          <p:cNvPr id="35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36" name="Text 34"/>
          <p:cNvSpPr/>
          <p:nvPr/>
        </p:nvSpPr>
        <p:spPr>
          <a:xfrm>
            <a:off x="6144768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Loop</a:t>
            </a:r>
            <a:endParaRPr lang="en-US" sz="1200" dirty="0"/>
          </a:p>
        </p:txBody>
      </p:sp>
      <p:sp>
        <p:nvSpPr>
          <p:cNvPr id="3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0144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38" name="Text 36"/>
          <p:cNvSpPr/>
          <p:nvPr/>
        </p:nvSpPr>
        <p:spPr>
          <a:xfrm>
            <a:off x="8010144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</a:t>
            </a:r>
            <a:endParaRPr lang="en-US" sz="1200" dirty="0"/>
          </a:p>
        </p:txBody>
      </p:sp>
      <p:sp>
        <p:nvSpPr>
          <p:cNvPr id="39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5520" y="4892040"/>
            <a:ext cx="1737360" cy="420624"/>
          </a:xfrm>
          <a:prstGeom prst="roundRect">
            <a:avLst>
              <a:gd name="adj" fmla="val 43478"/>
            </a:avLst>
          </a:prstGeom>
          <a:solidFill>
            <a:srgbClr val="C86B0E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4892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Viva Engage</a:t>
            </a:r>
            <a:endParaRPr lang="en-US" sz="1200" dirty="0"/>
          </a:p>
        </p:txBody>
      </p:sp>
      <p:sp>
        <p:nvSpPr>
          <p:cNvPr id="41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60720"/>
            <a:ext cx="11064240" cy="71323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42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60720"/>
            <a:ext cx="64008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578815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this as   </a:t>
            </a: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 provide the membership foundation for many shared experiences; this overview shows the layers, not yet every integration.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shared membership and resource foundation, not an application</a:t>
            </a:r>
            <a:endParaRPr lang="en-US" sz="1400" dirty="0"/>
          </a:p>
        </p:txBody>
      </p:sp>
      <p:sp>
        <p:nvSpPr>
          <p:cNvPr id="13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4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5138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distinction   </a:t>
            </a: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Group is the membership and resource container; the applications are the experiences built on top of it.</a:t>
            </a:r>
            <a:endParaRPr lang="en-US" sz="1300" dirty="0"/>
          </a:p>
        </p:txBody>
      </p:sp>
      <p:pic>
        <p:nvPicPr>
          <p:cNvPr id="90" name="Groups icon" descr="Flat icon of three people grouped together, representing Microsoft 365 Grou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2926080" cy="292608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txBody>
          <a:bodyPr wrap="square" lIns="182880" tIns="45720" rIns="228600" bIns="45720" anchor="ctr"/>
          <a:lstStyle/>
          <a:p>
            <a:r>
              <a:rPr lang="en-US" sz="1400" b="1" i="0">
                <a:solidFill>
                  <a:srgbClr val="3A4150"/>
                </a:solidFill>
                <a:latin typeface="Segoe UI"/>
              </a:rPr>
              <a:t>Access   </a:t>
            </a:r>
            <a:r>
              <a:rPr lang="en-US" sz="1700" b="0" i="0">
                <a:solidFill>
                  <a:srgbClr val="1F3864"/>
                </a:solidFill>
                <a:latin typeface="Segoe UI"/>
              </a:rPr>
              <a:t>https://outlook.cloud.microsoft/groups/home</a:t>
            </a:r>
          </a:p>
        </p:txBody>
      </p:sp>
      <p:sp>
        <p:nvSpPr>
          <p:cNvPr id="95" name="Description"/>
          <p:cNvSpPr txBox="1"/>
          <p:nvPr/>
        </p:nvSpPr>
        <p:spPr>
          <a:xfrm>
            <a:off x="3931920" y="16459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A Microsoft 365 Group is a shared membership and resource container that other services build on - it is not an application you open.</a:t>
            </a:r>
          </a:p>
        </p:txBody>
      </p:sp>
      <p:sp>
        <p:nvSpPr>
          <p:cNvPr id="96" name="Key points"/>
          <p:cNvSpPr txBox="1"/>
          <p:nvPr/>
        </p:nvSpPr>
        <p:spPr>
          <a:xfrm>
            <a:off x="3931920" y="3017520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One membership list reused by Outlook, Teams, SharePoint and Planner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Every Group gets a group mailbox, a shared calendar and a SharePoint team site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Groups can be public or private, and a Team is optional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email and calendar experience for personal and group communication</a:t>
            </a:r>
            <a:endParaRPr lang="en-US" sz="1400" dirty="0"/>
          </a:p>
        </p:txBody>
      </p:sp>
      <p:sp>
        <p:nvSpPr>
          <p:cNvPr id="13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4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5138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distinction   </a:t>
            </a: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mailbox and calendar belong to the user; group mailbox and group calendar belong to the Microsoft 365 Group.</a:t>
            </a:r>
            <a:endParaRPr lang="en-US" sz="1300" dirty="0"/>
          </a:p>
        </p:txBody>
      </p:sp>
      <p:pic>
        <p:nvPicPr>
          <p:cNvPr id="90" name="Outlook icon" descr="Flat icon of an envelope and a calendar page, representing Outlook email and calend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2926080" cy="292608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txBody>
          <a:bodyPr wrap="square" lIns="182880" tIns="45720" rIns="228600" bIns="45720" anchor="ctr"/>
          <a:lstStyle/>
          <a:p>
            <a:r>
              <a:rPr lang="en-US" sz="1400" b="1" i="0">
                <a:solidFill>
                  <a:srgbClr val="3A4150"/>
                </a:solidFill>
                <a:latin typeface="Segoe UI"/>
              </a:rPr>
              <a:t>Access   </a:t>
            </a:r>
            <a:r>
              <a:rPr lang="en-US" sz="1700" b="0" i="0">
                <a:solidFill>
                  <a:srgbClr val="0078D4"/>
                </a:solidFill>
                <a:latin typeface="Segoe UI"/>
              </a:rPr>
              <a:t>https://outlook.cloud.microsoft/</a:t>
            </a:r>
          </a:p>
        </p:txBody>
      </p:sp>
      <p:sp>
        <p:nvSpPr>
          <p:cNvPr id="95" name="Description"/>
          <p:cNvSpPr txBox="1"/>
          <p:nvPr/>
        </p:nvSpPr>
        <p:spPr>
          <a:xfrm>
            <a:off x="3931920" y="16459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Outlook is the email and calendar experience for both personal and group communication.</a:t>
            </a:r>
          </a:p>
        </p:txBody>
      </p:sp>
      <p:sp>
        <p:nvSpPr>
          <p:cNvPr id="96" name="Key points"/>
          <p:cNvSpPr txBox="1"/>
          <p:nvPr/>
        </p:nvSpPr>
        <p:spPr>
          <a:xfrm>
            <a:off x="3931920" y="3017520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Personal mailbox and personal calendar belong to the user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Group mailbox and group calendar belong to the Microsoft 365 Group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My Groups shows joined Groups; Discover Groups shows public Groups to join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communication and collaboration workspace</a:t>
            </a:r>
            <a:endParaRPr lang="en-US" sz="1400" dirty="0"/>
          </a:p>
        </p:txBody>
      </p:sp>
      <p:sp>
        <p:nvSpPr>
          <p:cNvPr id="13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4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5138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5F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distinction   </a:t>
            </a: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provides the interface for conversation and meetings; membership and shared files live in the Group and its SharePoint sites.</a:t>
            </a:r>
            <a:endParaRPr lang="en-US" sz="1300" dirty="0"/>
          </a:p>
        </p:txBody>
      </p:sp>
      <p:pic>
        <p:nvPicPr>
          <p:cNvPr id="90" name="Teams icon" descr="Flat icon of speech bubbles with a person, representing Microsoft Teams chats, channels and meet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2926080" cy="292608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5B5FC7"/>
            </a:solidFill>
          </a:ln>
        </p:spPr>
        <p:txBody>
          <a:bodyPr wrap="square" lIns="182880" tIns="45720" rIns="228600" bIns="45720" anchor="ctr"/>
          <a:lstStyle/>
          <a:p>
            <a:r>
              <a:rPr lang="en-US" sz="1400" b="1" i="0">
                <a:solidFill>
                  <a:srgbClr val="3A4150"/>
                </a:solidFill>
                <a:latin typeface="Segoe UI"/>
              </a:rPr>
              <a:t>Access   </a:t>
            </a:r>
            <a:r>
              <a:rPr lang="en-US" sz="1700" b="0" i="0">
                <a:solidFill>
                  <a:srgbClr val="5B5FC7"/>
                </a:solidFill>
                <a:latin typeface="Segoe UI"/>
              </a:rPr>
              <a:t>https://teams.cloud.microsoft/</a:t>
            </a:r>
          </a:p>
        </p:txBody>
      </p:sp>
      <p:sp>
        <p:nvSpPr>
          <p:cNvPr id="95" name="Description"/>
          <p:cNvSpPr txBox="1"/>
          <p:nvPr/>
        </p:nvSpPr>
        <p:spPr>
          <a:xfrm>
            <a:off x="3931920" y="16459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Microsoft Teams is the workspace for conversation, meetings and day-to-day collaboration.</a:t>
            </a:r>
          </a:p>
        </p:txBody>
      </p:sp>
      <p:sp>
        <p:nvSpPr>
          <p:cNvPr id="96" name="Key points"/>
          <p:cNvSpPr txBox="1"/>
          <p:nvPr/>
        </p:nvSpPr>
        <p:spPr>
          <a:xfrm>
            <a:off x="3931920" y="3017520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Channels, posts, chats and online meetings in one place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Every standard team is backed by a Microsoft 365 Group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Channel files are stored in the connected SharePoint site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shared organisational content platform</a:t>
            </a:r>
            <a:endParaRPr lang="en-US" sz="1400" dirty="0"/>
          </a:p>
        </p:txBody>
      </p:sp>
      <p:sp>
        <p:nvSpPr>
          <p:cNvPr id="13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4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5138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83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distinction   </a:t>
            </a: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Group-connected team sites and standalone sites are both SharePoint; only the first inherits Microsoft 365 Group membership.</a:t>
            </a:r>
            <a:endParaRPr lang="en-US" sz="1300" dirty="0"/>
          </a:p>
        </p:txBody>
      </p:sp>
      <p:pic>
        <p:nvPicPr>
          <p:cNvPr id="90" name="SharePoint icon" descr="Flat icon of connected site nodes above a shared document, representing SharePoint sites and libra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2926080" cy="292608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038387"/>
            </a:solidFill>
          </a:ln>
        </p:spPr>
        <p:txBody>
          <a:bodyPr wrap="square" lIns="182880" tIns="45720" rIns="228600" bIns="45720" anchor="ctr"/>
          <a:lstStyle/>
          <a:p>
            <a:r>
              <a:rPr lang="en-US" sz="1400" b="1" i="0">
                <a:solidFill>
                  <a:srgbClr val="1B1B1F"/>
                </a:solidFill>
                <a:latin typeface="Segoe UI"/>
              </a:rPr>
              <a:t>Access   </a:t>
            </a:r>
            <a:r>
              <a:rPr lang="en-US" sz="1700" b="0" i="0">
                <a:solidFill>
                  <a:srgbClr val="038387"/>
                </a:solidFill>
                <a:latin typeface="Segoe UI"/>
              </a:rPr>
              <a:t>https://www.microsoft365.com/launch/sharepoint</a:t>
            </a:r>
            <a:r>
              <a:rPr lang="en-US" sz="1300" b="0" i="1">
                <a:solidFill>
                  <a:srgbClr val="1B1B1F"/>
                </a:solidFill>
                <a:latin typeface="Segoe UI"/>
              </a:rPr>
              <a:t>   site address: https://&lt;tenant&gt;.sharepoint.com/sites/&lt;site-name&gt;</a:t>
            </a:r>
          </a:p>
        </p:txBody>
      </p:sp>
      <p:sp>
        <p:nvSpPr>
          <p:cNvPr id="95" name="Description"/>
          <p:cNvSpPr txBox="1"/>
          <p:nvPr/>
        </p:nvSpPr>
        <p:spPr>
          <a:xfrm>
            <a:off x="3931920" y="16459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SharePoint is the platform that stores and publishes shared organisational content.</a:t>
            </a:r>
          </a:p>
        </p:txBody>
      </p:sp>
      <p:sp>
        <p:nvSpPr>
          <p:cNvPr id="96" name="Key points"/>
          <p:cNvSpPr txBox="1"/>
          <p:nvPr/>
        </p:nvSpPr>
        <p:spPr>
          <a:xfrm>
            <a:off x="3931920" y="3017520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Team sites, communication sites, document libraries, pages and lists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Every Microsoft 365 Group has a connected team site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Only Group-connected sites inherit Group membership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364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file storage for an individual user's working files</a:t>
            </a:r>
            <a:endParaRPr lang="en-US" sz="1400" dirty="0"/>
          </a:p>
        </p:txBody>
      </p:sp>
      <p:sp>
        <p:nvSpPr>
          <p:cNvPr id="13" name="personal storage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539496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0364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4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OneDrive:  </a:t>
            </a:r>
            <a:r>
              <a:rPr lang="en-US" sz="15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files</a:t>
            </a:r>
            <a:endParaRPr lang="en-US" sz="1500" dirty="0"/>
          </a:p>
        </p:txBody>
      </p:sp>
      <p:sp>
        <p:nvSpPr>
          <p:cNvPr id="15" name="shared storage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5486400"/>
            <a:ext cx="5394960" cy="502920"/>
          </a:xfrm>
          <a:prstGeom prst="rect">
            <a:avLst/>
          </a:prstGeom>
          <a:solidFill>
            <a:srgbClr val="E3F3F2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486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83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SharePoint:  </a:t>
            </a:r>
            <a:r>
              <a:rPr lang="en-US" sz="15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files</a:t>
            </a:r>
            <a:endParaRPr lang="en-US" sz="1500" dirty="0"/>
          </a:p>
        </p:txBody>
      </p:sp>
      <p:pic>
        <p:nvPicPr>
          <p:cNvPr id="90" name="OneDrive icon" descr="Flat icon of a cloud with a document, representing OneDrive personal cloud file stor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2926080" cy="292608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0364B8"/>
            </a:solidFill>
          </a:ln>
        </p:spPr>
        <p:txBody>
          <a:bodyPr wrap="square" lIns="182880" tIns="45720" rIns="228600" bIns="45720" anchor="ctr"/>
          <a:lstStyle/>
          <a:p>
            <a:r>
              <a:rPr lang="en-US" sz="1400" b="1" i="0">
                <a:solidFill>
                  <a:srgbClr val="1B1B1F"/>
                </a:solidFill>
                <a:latin typeface="Segoe UI"/>
              </a:rPr>
              <a:t>Access   </a:t>
            </a:r>
            <a:r>
              <a:rPr lang="en-US" sz="1700" b="0" i="0">
                <a:solidFill>
                  <a:srgbClr val="0364B8"/>
                </a:solidFill>
                <a:latin typeface="Segoe UI"/>
              </a:rPr>
              <a:t>https://www.microsoft365.com/launch/onedrive</a:t>
            </a:r>
            <a:r>
              <a:rPr lang="en-US" sz="1300" b="0" i="1">
                <a:solidFill>
                  <a:srgbClr val="1B1B1F"/>
                </a:solidFill>
                <a:latin typeface="Segoe UI"/>
              </a:rPr>
              <a:t>   personal library: https://&lt;tenant&gt;-my.sharepoint.com</a:t>
            </a:r>
          </a:p>
        </p:txBody>
      </p:sp>
      <p:sp>
        <p:nvSpPr>
          <p:cNvPr id="95" name="Description"/>
          <p:cNvSpPr txBox="1"/>
          <p:nvPr/>
        </p:nvSpPr>
        <p:spPr>
          <a:xfrm>
            <a:off x="3931920" y="16459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OneDrive is personal cloud storage for an individual user's working files.</a:t>
            </a:r>
          </a:p>
        </p:txBody>
      </p:sp>
      <p:sp>
        <p:nvSpPr>
          <p:cNvPr id="96" name="Key points"/>
          <p:cNvSpPr txBox="1"/>
          <p:nvPr/>
        </p:nvSpPr>
        <p:spPr>
          <a:xfrm>
            <a:off x="3931920" y="3017520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Files are owned by the user and shared only by explicit invitation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Built on SharePoint technology, but it is not a shared team location</a:t>
            </a:r>
          </a:p>
          <a:p>
            <a:pPr marL="257175" indent="-257175">
              <a:spcBef>
                <a:spcPts val="900"/>
              </a:spcBef>
              <a:buFont typeface="Arial"/>
              <a:buChar char="•"/>
            </a:pPr>
            <a:r>
              <a:rPr lang="en-US" sz="1700" b="0">
                <a:solidFill>
                  <a:srgbClr val="3A4150"/>
                </a:solidFill>
                <a:latin typeface="Segoe UI"/>
              </a:rPr>
              <a:t>Content meant for the whole group belongs in SharePoint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intelligence layer working across authorised Microsoft 365 information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AUTHORISED CONTEXT COPILOT CAN USE</a:t>
            </a:r>
            <a:endParaRPr lang="en-US" sz="1200"/>
          </a:p>
        </p:txBody>
      </p:sp>
      <p:sp>
        <p:nvSpPr>
          <p:cNvPr id="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200" dirty="0"/>
          </a:p>
        </p:txBody>
      </p:sp>
      <p:sp>
        <p:nvSpPr>
          <p:cNvPr id="8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1737360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5B5FC7"/>
          </a:solidFill>
          <a:ln/>
        </p:spPr>
      </p:sp>
      <p:sp>
        <p:nvSpPr>
          <p:cNvPr id="9" name="Text 7"/>
          <p:cNvSpPr/>
          <p:nvPr/>
        </p:nvSpPr>
        <p:spPr>
          <a:xfrm>
            <a:off x="4270248" y="17373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1200" dirty="0"/>
          </a:p>
        </p:txBody>
      </p:sp>
      <p:sp>
        <p:nvSpPr>
          <p:cNvPr id="10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1737360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038387"/>
          </a:solidFill>
          <a:ln/>
        </p:spPr>
      </p:sp>
      <p:sp>
        <p:nvSpPr>
          <p:cNvPr id="11" name="Text 9"/>
          <p:cNvSpPr/>
          <p:nvPr/>
        </p:nvSpPr>
        <p:spPr>
          <a:xfrm>
            <a:off x="7991856" y="17373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12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59152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0364B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5915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200" dirty="0"/>
          </a:p>
        </p:txBody>
      </p:sp>
      <p:sp>
        <p:nvSpPr>
          <p:cNvPr id="1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2359152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4270248" y="235915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Calendars</a:t>
            </a:r>
            <a:endParaRPr lang="en-US" sz="1200" dirty="0"/>
          </a:p>
        </p:txBody>
      </p:sp>
      <p:sp>
        <p:nvSpPr>
          <p:cNvPr id="1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2359152"/>
            <a:ext cx="3566160" cy="512064"/>
          </a:xfrm>
          <a:prstGeom prst="roundRect">
            <a:avLst>
              <a:gd name="adj" fmla="val 35714"/>
            </a:avLst>
          </a:prstGeom>
          <a:solidFill>
            <a:srgbClr val="5B5FC7"/>
          </a:solidFill>
          <a:ln/>
        </p:spPr>
      </p:sp>
      <p:sp>
        <p:nvSpPr>
          <p:cNvPr id="17" name="Text 15"/>
          <p:cNvSpPr/>
          <p:nvPr/>
        </p:nvSpPr>
        <p:spPr>
          <a:xfrm>
            <a:off x="7991856" y="235915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Meetings</a:t>
            </a:r>
            <a:endParaRPr lang="en-US" sz="1200" dirty="0"/>
          </a:p>
        </p:txBody>
      </p:sp>
      <p:sp>
        <p:nvSpPr>
          <p:cNvPr id="18" name="permission boundary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35808"/>
            <a:ext cx="11064240" cy="457200"/>
          </a:xfrm>
          <a:prstGeom prst="rect">
            <a:avLst/>
          </a:prstGeom>
          <a:solidFill>
            <a:srgbClr val="F2EBF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358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of this is filtered by the user's existing permissions</a:t>
            </a:r>
            <a:endParaRPr lang="en-US" sz="1300" dirty="0"/>
          </a:p>
        </p:txBody>
      </p:sp>
      <p:sp>
        <p:nvSpPr>
          <p:cNvPr id="20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39312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39312"/>
            <a:ext cx="64008" cy="1828800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COPILOT DOES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786384" y="4041648"/>
            <a:ext cx="491947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Summarises, drafts and compares authorised content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across several services in one request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Surfaces actions, decisions and follow-ups</a:t>
            </a:r>
            <a:endParaRPr lang="en-US" sz="1300" dirty="0"/>
          </a:p>
        </p:txBody>
      </p:sp>
      <p:sp>
        <p:nvSpPr>
          <p:cNvPr id="24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3639312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3639312"/>
            <a:ext cx="64008" cy="1828800"/>
          </a:xfrm>
          <a:prstGeom prst="rect">
            <a:avLst/>
          </a:prstGeom>
          <a:solidFill>
            <a:srgbClr val="C4314B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C431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COPILOT DOES NOT DO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6455664" y="4041648"/>
            <a:ext cx="491947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Grant access to information the user cannot already open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Outlook, Teams, SharePoint or OneDrive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separate copy of organisational content</a:t>
            </a:r>
            <a:endParaRPr lang="en-US" sz="1300" dirty="0"/>
          </a:p>
        </p:txBody>
      </p:sp>
      <p:sp>
        <p:nvSpPr>
          <p:cNvPr id="28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29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5138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distinction   </a:t>
            </a: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information is stored, how it is organised and who has permission all shape the context available to Copilot.</a:t>
            </a:r>
            <a:endParaRPr lang="en-US" sz="1300" dirty="0"/>
          </a:p>
        </p:txBody>
      </p:sp>
      <p:pic>
        <p:nvPicPr>
          <p:cNvPr id="90" name="Copilot icon" descr="Flat icon of sparkles, representing the Microsoft 365 Copilot assistant lay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416" y="283464"/>
            <a:ext cx="1005840" cy="1005840"/>
          </a:xfrm>
          <a:prstGeom prst="rect">
            <a:avLst/>
          </a:prstGeom>
        </p:spPr>
      </p:pic>
      <p:sp>
        <p:nvSpPr>
          <p:cNvPr id="91" name="Access URL"/>
          <p:cNvSpPr txBox="1"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8661C5"/>
            </a:solidFill>
          </a:ln>
        </p:spPr>
        <p:txBody>
          <a:bodyPr wrap="square" lIns="182880" tIns="45720" rIns="228600" bIns="45720" anchor="ctr"/>
          <a:lstStyle/>
          <a:p>
            <a:r>
              <a:rPr lang="en-US" sz="1400" b="1" i="0">
                <a:solidFill>
                  <a:srgbClr val="3A4150"/>
                </a:solidFill>
                <a:latin typeface="Segoe UI"/>
              </a:rPr>
              <a:t>Access   </a:t>
            </a:r>
            <a:r>
              <a:rPr lang="en-US" sz="1700" b="0" i="0">
                <a:solidFill>
                  <a:srgbClr val="8661C5"/>
                </a:solidFill>
                <a:latin typeface="Segoe UI"/>
              </a:rPr>
              <a:t>https://m365.cloud.microsoft/chat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Microsoft 365 products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that extend the collaboration ecosystem beyond the six primary components</a:t>
            </a:r>
            <a:endParaRPr lang="en-US" sz="1400" dirty="0"/>
          </a:p>
        </p:txBody>
      </p:sp>
      <p:sp>
        <p:nvSpPr>
          <p:cNvPr id="5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PLANNER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0" i="0">
                <a:solidFill>
                  <a:srgbClr val="3A4150"/>
                </a:solidFill>
                <a:latin typeface="Segoe UI"/>
              </a:rPr>
              <a:t>Task management for plans, buckets and assignments, shared with Groups and Teams.</a:t>
            </a:r>
          </a:p>
        </p:txBody>
      </p:sp>
      <p:sp>
        <p:nvSpPr>
          <p:cNvPr id="9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1417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14173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FORMS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07992" y="19659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0" i="0">
                <a:solidFill>
                  <a:srgbClr val="3A4150"/>
                </a:solidFill>
                <a:latin typeface="Segoe UI"/>
              </a:rPr>
              <a:t>Surveys, quizzes and questionnaires shared through Teams, Outlook and SharePoint.</a:t>
            </a:r>
          </a:p>
        </p:txBody>
      </p:sp>
      <p:sp>
        <p:nvSpPr>
          <p:cNvPr id="13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1417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14173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ONENOTE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19659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0" i="0">
                <a:solidFill>
                  <a:srgbClr val="3A4150"/>
                </a:solidFill>
                <a:latin typeface="Segoe UI"/>
              </a:rPr>
              <a:t>Shared notebooks for collaborative notes inside Teams and SharePoint spaces.</a:t>
            </a:r>
          </a:p>
        </p:txBody>
      </p:sp>
      <p:sp>
        <p:nvSpPr>
          <p:cNvPr id="17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74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747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LOOP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" y="40233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0" i="0">
                <a:solidFill>
                  <a:srgbClr val="3A4150"/>
                </a:solidFill>
                <a:latin typeface="Segoe UI"/>
              </a:rPr>
              <a:t>Collaborative workspaces whose components stay in sync across Teams and Outlook.</a:t>
            </a:r>
          </a:p>
        </p:txBody>
      </p:sp>
      <p:sp>
        <p:nvSpPr>
          <p:cNvPr id="21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3474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34747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STREAM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07992" y="40233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0" i="0">
                <a:solidFill>
                  <a:srgbClr val="3A4150"/>
                </a:solidFill>
                <a:latin typeface="Segoe UI"/>
              </a:rPr>
              <a:t>Video across Microsoft 365, stored in SharePoint or OneDrive depending on ownership.</a:t>
            </a:r>
          </a:p>
        </p:txBody>
      </p:sp>
      <p:sp>
        <p:nvSpPr>
          <p:cNvPr id="25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3474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1856" y="3474720"/>
            <a:ext cx="64008" cy="1920240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27" name="Text 25"/>
          <p:cNvSpPr/>
          <p:nvPr/>
        </p:nvSpPr>
        <p:spPr>
          <a:xfrm>
            <a:off x="8247888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VIVA ENGAGE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02336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0" i="0">
                <a:solidFill>
                  <a:srgbClr val="3A4150"/>
                </a:solidFill>
                <a:latin typeface="Segoe UI"/>
              </a:rPr>
              <a:t>Communities and organisation-wide conversations that complement Outlook and Teams.</a:t>
            </a:r>
          </a:p>
        </p:txBody>
      </p:sp>
      <p:sp>
        <p:nvSpPr>
          <p:cNvPr id="29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669280"/>
            <a:ext cx="11064240" cy="71323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0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669280"/>
            <a:ext cx="64008" cy="713232"/>
          </a:xfrm>
          <a:prstGeom prst="rect">
            <a:avLst/>
          </a:prstGeom>
          <a:solidFill>
            <a:srgbClr val="C86B0E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569671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  </a:t>
            </a: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products extend the ecosystem and appear in the final map, but they are not part of the pairwise integration analysis that follows.</a:t>
            </a:r>
            <a:endParaRPr lang="en-US" sz="1300" dirty="0"/>
          </a:p>
        </p:txBody>
      </p:sp>
      <p:sp>
        <p:nvSpPr>
          <p:cNvPr id="400" name="Access 301"/>
          <p:cNvSpPr txBox="1"/>
          <p:nvPr/>
        </p:nvSpPr>
        <p:spPr>
          <a:xfrm>
            <a:off x="804672" y="28346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E7D4F"/>
            </a:solidFill>
          </a:ln>
        </p:spPr>
        <p:txBody>
          <a:bodyPr wrap="square" lIns="109728" tIns="27432" rIns="91440" bIns="27432" anchor="ctr"/>
          <a:lstStyle/>
          <a:p>
            <a:r>
              <a:rPr lang="en-US" sz="1000" b="0" i="0">
                <a:solidFill>
                  <a:srgbClr val="2E7D4F"/>
                </a:solidFill>
                <a:latin typeface="Segoe UI"/>
              </a:rPr>
              <a:t>https://planner.cloud.microsoft/</a:t>
            </a:r>
          </a:p>
        </p:txBody>
      </p:sp>
      <p:sp>
        <p:nvSpPr>
          <p:cNvPr id="401" name="Access 302"/>
          <p:cNvSpPr txBox="1"/>
          <p:nvPr/>
        </p:nvSpPr>
        <p:spPr>
          <a:xfrm>
            <a:off x="4526280" y="28346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2185B"/>
            </a:solidFill>
          </a:ln>
        </p:spPr>
        <p:txBody>
          <a:bodyPr wrap="square" lIns="109728" tIns="27432" rIns="91440" bIns="27432" anchor="ctr"/>
          <a:lstStyle/>
          <a:p>
            <a:r>
              <a:rPr lang="en-US" sz="1000" b="0" i="0">
                <a:solidFill>
                  <a:srgbClr val="C2185B"/>
                </a:solidFill>
                <a:latin typeface="Segoe UI"/>
              </a:rPr>
              <a:t>https://forms.cloud.microsoft/</a:t>
            </a:r>
          </a:p>
        </p:txBody>
      </p:sp>
      <p:sp>
        <p:nvSpPr>
          <p:cNvPr id="402" name="Access 303"/>
          <p:cNvSpPr txBox="1"/>
          <p:nvPr/>
        </p:nvSpPr>
        <p:spPr>
          <a:xfrm>
            <a:off x="8247888" y="28346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7719AA"/>
            </a:solidFill>
          </a:ln>
        </p:spPr>
        <p:txBody>
          <a:bodyPr wrap="square" lIns="109728" tIns="27432" rIns="91440" bIns="27432" anchor="ctr"/>
          <a:lstStyle/>
          <a:p>
            <a:r>
              <a:rPr lang="en-US" sz="1000" b="0" i="0">
                <a:solidFill>
                  <a:srgbClr val="7719AA"/>
                </a:solidFill>
                <a:latin typeface="Segoe UI"/>
              </a:rPr>
              <a:t>https://www.microsoft365.com/launch/onenote</a:t>
            </a:r>
          </a:p>
        </p:txBody>
      </p:sp>
      <p:sp>
        <p:nvSpPr>
          <p:cNvPr id="403" name="Access 304"/>
          <p:cNvSpPr txBox="1"/>
          <p:nvPr/>
        </p:nvSpPr>
        <p:spPr>
          <a:xfrm>
            <a:off x="804672" y="48920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0533D"/>
            </a:solidFill>
          </a:ln>
        </p:spPr>
        <p:txBody>
          <a:bodyPr wrap="square" lIns="109728" tIns="27432" rIns="91440" bIns="27432" anchor="ctr"/>
          <a:lstStyle/>
          <a:p>
            <a:r>
              <a:rPr lang="en-US" sz="1000" b="0" i="0">
                <a:solidFill>
                  <a:srgbClr val="D0533D"/>
                </a:solidFill>
                <a:latin typeface="Segoe UI"/>
              </a:rPr>
              <a:t>https://loop.cloud.microsoft/</a:t>
            </a:r>
          </a:p>
        </p:txBody>
      </p:sp>
      <p:sp>
        <p:nvSpPr>
          <p:cNvPr id="404" name="Access 305"/>
          <p:cNvSpPr txBox="1"/>
          <p:nvPr/>
        </p:nvSpPr>
        <p:spPr>
          <a:xfrm>
            <a:off x="4526280" y="48920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4F52B2"/>
            </a:solidFill>
          </a:ln>
        </p:spPr>
        <p:txBody>
          <a:bodyPr wrap="square" lIns="109728" tIns="27432" rIns="91440" bIns="27432" anchor="ctr"/>
          <a:lstStyle/>
          <a:p>
            <a:r>
              <a:rPr lang="en-US" sz="1000" b="0" i="0">
                <a:solidFill>
                  <a:srgbClr val="4F52B2"/>
                </a:solidFill>
                <a:latin typeface="Segoe UI"/>
              </a:rPr>
              <a:t>https://www.microsoft365.com/launch/stream</a:t>
            </a:r>
          </a:p>
        </p:txBody>
      </p:sp>
      <p:sp>
        <p:nvSpPr>
          <p:cNvPr id="405" name="Access 306"/>
          <p:cNvSpPr txBox="1"/>
          <p:nvPr/>
        </p:nvSpPr>
        <p:spPr>
          <a:xfrm>
            <a:off x="8247888" y="4892040"/>
            <a:ext cx="3054096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A7F8E"/>
            </a:solidFill>
          </a:ln>
        </p:spPr>
        <p:txBody>
          <a:bodyPr wrap="square" lIns="109728" tIns="27432" rIns="91440" bIns="27432" anchor="ctr"/>
          <a:lstStyle/>
          <a:p>
            <a:r>
              <a:rPr lang="en-US" sz="1000" b="0" i="0">
                <a:solidFill>
                  <a:srgbClr val="1A7F8E"/>
                </a:solidFill>
                <a:latin typeface="Segoe UI"/>
              </a:rPr>
              <a:t>https://engage.cloud.microsoft/</a:t>
            </a:r>
          </a:p>
        </p:txBody>
      </p:sp>
      <p:pic>
        <p:nvPicPr>
          <p:cNvPr id="500" name="planner icon" descr="planner sym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1508760"/>
            <a:ext cx="411480" cy="411480"/>
          </a:xfrm>
          <a:prstGeom prst="rect">
            <a:avLst/>
          </a:prstGeom>
        </p:spPr>
      </p:pic>
      <p:pic>
        <p:nvPicPr>
          <p:cNvPr id="501" name="forms icon" descr="forms symb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508760"/>
            <a:ext cx="411480" cy="411480"/>
          </a:xfrm>
          <a:prstGeom prst="rect">
            <a:avLst/>
          </a:prstGeom>
        </p:spPr>
      </p:pic>
      <p:pic>
        <p:nvPicPr>
          <p:cNvPr id="502" name="onenote icon" descr="onenote symb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04" y="1508760"/>
            <a:ext cx="411480" cy="411480"/>
          </a:xfrm>
          <a:prstGeom prst="rect">
            <a:avLst/>
          </a:prstGeom>
        </p:spPr>
      </p:pic>
      <p:pic>
        <p:nvPicPr>
          <p:cNvPr id="503" name="loop icon" descr="loop symbo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3566160"/>
            <a:ext cx="411480" cy="411480"/>
          </a:xfrm>
          <a:prstGeom prst="rect">
            <a:avLst/>
          </a:prstGeom>
        </p:spPr>
      </p:pic>
      <p:pic>
        <p:nvPicPr>
          <p:cNvPr id="504" name="stream icon" descr="stream symbo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8896" y="3566160"/>
            <a:ext cx="411480" cy="411480"/>
          </a:xfrm>
          <a:prstGeom prst="rect">
            <a:avLst/>
          </a:prstGeom>
        </p:spPr>
      </p:pic>
      <p:pic>
        <p:nvPicPr>
          <p:cNvPr id="505" name="engage icon" descr="engage symbo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0504" y="35661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 and Outlook</a:t>
            </a:r>
            <a:endParaRPr lang="en-US" sz="2700" dirty="0"/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15384" y="932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200" dirty="0"/>
          </a:p>
        </p:txBody>
      </p:sp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Microsoft 365 Groups provide a shared identity for a team or community.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A Microsoft 365 Group includes a group email address and a shared mailbox.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Emails sent to the group address can be delivered to all group members.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Members can read and participate in group conversations from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Groups can be Public or Private.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Public groups can be discovered by users in the organization.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Users can join public groups.</a:t>
            </a:r>
          </a:p>
        </p:txBody>
      </p:sp>
      <p:pic>
        <p:nvPicPr>
          <p:cNvPr id="600" name="Microsoft 365 Groups icon" descr="Microsoft 365 Grou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pic>
        <p:nvPicPr>
          <p:cNvPr id="601" name="Outlook icon" descr="Outlo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777240"/>
            <a:ext cx="786384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/>
                <a:ea typeface="Segoe UI" pitchFamily="34" charset="-122"/>
                <a:cs typeface="Segoe UI"/>
              </a:rPr>
              <a:t>Microsoft 365 Groups and Calendar</a:t>
            </a:r>
            <a:endParaRPr lang="en-US" sz="2700" dirty="0">
              <a:latin typeface="Segoe UI"/>
              <a:cs typeface="Segoe UI"/>
            </a:endParaRPr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215384" y="932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/>
          </a:p>
        </p:txBody>
      </p:sp>
      <p:sp>
        <p:nvSpPr>
          <p:cNvPr id="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calendar</a:t>
            </a:r>
            <a:endParaRPr lang="en-US" sz="1200"/>
          </a:p>
        </p:txBody>
      </p:sp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Each Microsoft 365 Group includes a shared calendar.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Group members can view events in the group calendar.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Group members can create and manage events in the group calendar.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Group calendar events are visible to all group members.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Inviting a group to an event adds the event to the calendars of the group members.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Group calendars help coordinate activities across the group.</a:t>
            </a:r>
          </a:p>
        </p:txBody>
      </p:sp>
      <p:pic>
        <p:nvPicPr>
          <p:cNvPr id="600" name="Microsoft 365 Groups icon" descr="Microsoft 365 Grou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pic>
        <p:nvPicPr>
          <p:cNvPr id="601" name="Group calendar icon" descr="Group calend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777240"/>
            <a:ext cx="786384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 and Teams</a:t>
            </a:r>
            <a:endParaRPr lang="en-US" sz="2700" dirty="0"/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15384" y="932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5B5FC7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200" dirty="0"/>
          </a:p>
        </p:txBody>
      </p:sp>
      <p:pic>
        <p:nvPicPr>
          <p:cNvPr id="600" name="Microsoft 365 Groups icon" descr="Microsoft 365 Grou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pic>
        <p:nvPicPr>
          <p:cNvPr id="601" name="Microsoft Teams icon" descr="Microsoft Team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777240"/>
            <a:ext cx="786384" cy="786384"/>
          </a:xfrm>
          <a:prstGeom prst="rect">
            <a:avLst/>
          </a:prstGeom>
        </p:spPr>
      </p:pic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Each Microsoft Teams team is associated with a Microsoft 365 Group.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Team membership is based on Microsoft 365 Group membership.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Adding a member to a team adds the user to the associated Microsoft 365 Group.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Removing a member from a team removes the user from the associated Microsoft 365 Group.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Team owners are also owners of the associated Microsoft 365 Group.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Microsoft 365 Groups provide the membership foundation for Teams.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000" b="0">
                <a:solidFill>
                  <a:srgbClr val="1B1B1F"/>
                </a:solidFill>
                <a:latin typeface="Segoe UI"/>
              </a:rPr>
              <a:t>Changes to group membership are reflected in the team.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 and SharePoint</a:t>
            </a:r>
            <a:endParaRPr lang="en-US" sz="2700" dirty="0"/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15384" y="932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038387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200" dirty="0"/>
          </a:p>
        </p:txBody>
      </p:sp>
      <p:pic>
        <p:nvPicPr>
          <p:cNvPr id="600" name="Microsoft 365 Groups icon" descr="Microsoft 365 Grou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pic>
        <p:nvPicPr>
          <p:cNvPr id="601" name="SharePoint icon" descr="SharePoi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777240"/>
            <a:ext cx="786384" cy="786384"/>
          </a:xfrm>
          <a:prstGeom prst="rect">
            <a:avLst/>
          </a:prstGeom>
        </p:spPr>
      </p:pic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Each Microsoft 365 Group includes a SharePoint team site.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Group members automatically receive access to the associated SharePoint site.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SharePoint site permissions are based on group membership.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Adding or removing group members updates access to the SharePoint site.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Documents and content stored in the SharePoint site are shared with group members.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SharePoint provides the collaborative content workspace for the group.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 and Teams</a:t>
            </a:r>
            <a:endParaRPr lang="en-US" sz="2700" dirty="0"/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15384" y="932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5B5FC7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200" dirty="0"/>
          </a:p>
        </p:txBody>
      </p:sp>
      <p:pic>
        <p:nvPicPr>
          <p:cNvPr id="600" name="Outlook icon" descr="Outl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pic>
        <p:nvPicPr>
          <p:cNvPr id="601" name="Microsoft Teams icon" descr="Microsoft Team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777240"/>
            <a:ext cx="786384" cy="786384"/>
          </a:xfrm>
          <a:prstGeom prst="rect">
            <a:avLst/>
          </a:prstGeom>
        </p:spPr>
      </p:pic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Outlook and Teams share the same Microsoft 365 calendar.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Teams meetings can be scheduled directly from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Teams meetings created in Outlook appear in Teams.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Meeting invitations and updates are delivered through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Users can join Teams meetings directly from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Outlook and Teams provide a unified meeting and scheduling experience.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r>
              <a:rPr lang="en-U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SharePoint</a:t>
            </a: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2700" dirty="0"/>
          </a:p>
        </p:txBody>
      </p:sp>
      <p:sp>
        <p:nvSpPr>
          <p:cNvPr id="50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7218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0078D4"/>
          </a:solidFill>
          <a:ln/>
        </p:spPr>
      </p:sp>
      <p:sp>
        <p:nvSpPr>
          <p:cNvPr id="51" name="Text 3"/>
          <p:cNvSpPr/>
          <p:nvPr/>
        </p:nvSpPr>
        <p:spPr>
          <a:xfrm>
            <a:off x="147218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200"/>
          </a:p>
        </p:txBody>
      </p:sp>
      <p:pic>
        <p:nvPicPr>
          <p:cNvPr id="70" name="Outlook icon" descr="Outl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sp>
        <p:nvSpPr>
          <p:cNvPr id="53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2122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038387"/>
          </a:solidFill>
          <a:ln/>
        </p:spPr>
      </p:sp>
      <p:sp>
        <p:nvSpPr>
          <p:cNvPr id="54" name="Text 3"/>
          <p:cNvSpPr/>
          <p:nvPr/>
        </p:nvSpPr>
        <p:spPr>
          <a:xfrm>
            <a:off x="522122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200"/>
          </a:p>
        </p:txBody>
      </p:sp>
      <p:pic>
        <p:nvPicPr>
          <p:cNvPr id="71" name="SharePoint icon" descr="SharePoi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777240"/>
            <a:ext cx="786384" cy="786384"/>
          </a:xfrm>
          <a:prstGeom prst="rect">
            <a:avLst/>
          </a:prstGeom>
        </p:spPr>
      </p:pic>
      <p:sp>
        <p:nvSpPr>
          <p:cNvPr id="5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7026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0364B8"/>
          </a:solidFill>
          <a:ln/>
        </p:spPr>
      </p:sp>
      <p:sp>
        <p:nvSpPr>
          <p:cNvPr id="57" name="Text 3"/>
          <p:cNvSpPr/>
          <p:nvPr/>
        </p:nvSpPr>
        <p:spPr>
          <a:xfrm>
            <a:off x="897026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200"/>
          </a:p>
        </p:txBody>
      </p:sp>
      <p:pic>
        <p:nvPicPr>
          <p:cNvPr id="72" name="OneDrive icon" descr="OneDriv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777240"/>
            <a:ext cx="786384" cy="786384"/>
          </a:xfrm>
          <a:prstGeom prst="rect">
            <a:avLst/>
          </a:prstGeom>
        </p:spPr>
      </p:pic>
      <p:sp>
        <p:nvSpPr>
          <p:cNvPr id="80" name="Text 4"/>
          <p:cNvSpPr/>
          <p:nvPr/>
        </p:nvSpPr>
        <p:spPr>
          <a:xfrm>
            <a:off x="3803904" y="932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/>
          </a:p>
        </p:txBody>
      </p:sp>
      <p:sp>
        <p:nvSpPr>
          <p:cNvPr id="81" name="Text 4"/>
          <p:cNvSpPr/>
          <p:nvPr/>
        </p:nvSpPr>
        <p:spPr>
          <a:xfrm>
            <a:off x="7552944" y="932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/>
          </a:p>
        </p:txBody>
      </p:sp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Emails can include links to files stored in SharePoint and OneDrive.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Users can share files from SharePoint and OneDrive directly from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File permissions can be managed when sharing links in Outlook.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Recipients can collaborate on shared documents without email attachments.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Updates to shared files are reflected automatically because the content remains stored in SharePoint or OneDrive.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Outlook helps distribute and collaborate on content stored in Microsoft 365.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Teams, SharePoint, and OneDrive</a:t>
            </a:r>
            <a:endParaRPr lang="en-US" sz="2700"/>
          </a:p>
        </p:txBody>
      </p:sp>
      <p:sp>
        <p:nvSpPr>
          <p:cNvPr id="50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7218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5B5FC7"/>
          </a:solidFill>
          <a:ln/>
        </p:spPr>
      </p:sp>
      <p:sp>
        <p:nvSpPr>
          <p:cNvPr id="51" name="Text 3"/>
          <p:cNvSpPr/>
          <p:nvPr/>
        </p:nvSpPr>
        <p:spPr>
          <a:xfrm>
            <a:off x="147218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200"/>
          </a:p>
        </p:txBody>
      </p:sp>
      <p:pic>
        <p:nvPicPr>
          <p:cNvPr id="70" name="Teams icon" descr="Outloo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  <p:sp>
        <p:nvSpPr>
          <p:cNvPr id="53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2122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038387"/>
          </a:solidFill>
          <a:ln/>
        </p:spPr>
      </p:sp>
      <p:sp>
        <p:nvSpPr>
          <p:cNvPr id="54" name="Text 3"/>
          <p:cNvSpPr/>
          <p:nvPr/>
        </p:nvSpPr>
        <p:spPr>
          <a:xfrm>
            <a:off x="522122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200"/>
          </a:p>
        </p:txBody>
      </p:sp>
      <p:pic>
        <p:nvPicPr>
          <p:cNvPr id="71" name="SharePoint icon" descr="SharePoi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777240"/>
            <a:ext cx="786384" cy="786384"/>
          </a:xfrm>
          <a:prstGeom prst="rect">
            <a:avLst/>
          </a:prstGeom>
        </p:spPr>
      </p:pic>
      <p:sp>
        <p:nvSpPr>
          <p:cNvPr id="56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70264" y="932688"/>
            <a:ext cx="2286000" cy="438912"/>
          </a:xfrm>
          <a:prstGeom prst="roundRect">
            <a:avLst>
              <a:gd name="adj" fmla="val 41667"/>
            </a:avLst>
          </a:prstGeom>
          <a:solidFill>
            <a:srgbClr val="0364B8"/>
          </a:solidFill>
          <a:ln/>
        </p:spPr>
      </p:sp>
      <p:sp>
        <p:nvSpPr>
          <p:cNvPr id="57" name="Text 3"/>
          <p:cNvSpPr/>
          <p:nvPr/>
        </p:nvSpPr>
        <p:spPr>
          <a:xfrm>
            <a:off x="8970264" y="932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200"/>
          </a:p>
        </p:txBody>
      </p:sp>
      <p:pic>
        <p:nvPicPr>
          <p:cNvPr id="72" name="OneDrive icon" descr="OneDri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777240"/>
            <a:ext cx="786384" cy="786384"/>
          </a:xfrm>
          <a:prstGeom prst="rect">
            <a:avLst/>
          </a:prstGeom>
        </p:spPr>
      </p:pic>
      <p:sp>
        <p:nvSpPr>
          <p:cNvPr id="80" name="Text 4"/>
          <p:cNvSpPr/>
          <p:nvPr/>
        </p:nvSpPr>
        <p:spPr>
          <a:xfrm>
            <a:off x="3803904" y="932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/>
          </a:p>
        </p:txBody>
      </p:sp>
      <p:sp>
        <p:nvSpPr>
          <p:cNvPr id="81" name="Text 4"/>
          <p:cNvSpPr/>
          <p:nvPr/>
        </p:nvSpPr>
        <p:spPr>
          <a:xfrm>
            <a:off x="7552944" y="932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/>
          </a:p>
        </p:txBody>
      </p:sp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Files shared in Teams channels are stored in SharePoint.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Files shared in Teams chats are stored in OneDrive.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Team members can collaborate on shared documents directly from Teams.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Changes made to files are available to all authorized users in real time.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Teams provides a single interface to access content stored in SharePoint and OneDrive.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2200" b="0">
                <a:solidFill>
                  <a:srgbClr val="1B1B1F"/>
                </a:solidFill>
                <a:latin typeface="Segoe UI"/>
              </a:rPr>
              <a:t>File permissions are managed through the underlying SharePoint and OneDrive storage.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Copilot integrates with the ecosystem</a:t>
            </a:r>
            <a:endParaRPr lang="en-US" sz="2700"/>
          </a:p>
        </p:txBody>
      </p:sp>
      <p:sp>
        <p:nvSpPr>
          <p:cNvPr id="4" name="label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6464" y="932688"/>
            <a:ext cx="2743200" cy="438912"/>
          </a:xfrm>
          <a:prstGeom prst="roundRect">
            <a:avLst>
              <a:gd name="adj" fmla="val 41667"/>
            </a:avLst>
          </a:prstGeom>
          <a:solidFill>
            <a:srgbClr val="8661C5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932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</a:t>
            </a:r>
            <a:endParaRPr lang="en-US" sz="1200"/>
          </a:p>
        </p:txBody>
      </p:sp>
      <p:sp>
        <p:nvSpPr>
          <p:cNvPr id="40" name="content card"/>
          <p:cNvSpPr/>
          <p:nvPr/>
        </p:nvSpPr>
        <p:spPr>
          <a:xfrm>
            <a:off x="548640" y="1572768"/>
            <a:ext cx="1106424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</p:sp>
      <p:sp>
        <p:nvSpPr>
          <p:cNvPr id="41" name="card accent"/>
          <p:cNvSpPr/>
          <p:nvPr/>
        </p:nvSpPr>
        <p:spPr>
          <a:xfrm>
            <a:off x="548640" y="1572768"/>
            <a:ext cx="64008" cy="46634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2" name="Group bullets"/>
          <p:cNvSpPr txBox="1"/>
          <p:nvPr/>
        </p:nvSpPr>
        <p:spPr>
          <a:xfrm>
            <a:off x="914400" y="1874520"/>
            <a:ext cx="10378440" cy="4059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1900" b="0">
                <a:solidFill>
                  <a:srgbClr val="1B1B1F"/>
                </a:solidFill>
                <a:latin typeface="Segoe UI"/>
              </a:rPr>
              <a:t>Copilot works across the content and conversations the user is already allowed to open.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1900" b="0">
                <a:solidFill>
                  <a:srgbClr val="1B1B1F"/>
                </a:solidFill>
                <a:latin typeface="Segoe UI"/>
              </a:rPr>
              <a:t>In Outlook it summarises email threads and drafts replies from mailbox content.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1900" b="0">
                <a:solidFill>
                  <a:srgbClr val="1B1B1F"/>
                </a:solidFill>
                <a:latin typeface="Segoe UI"/>
              </a:rPr>
              <a:t>In Teams it summarises meetings and chat conversations.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1900" b="0">
                <a:solidFill>
                  <a:srgbClr val="1B1B1F"/>
                </a:solidFill>
                <a:latin typeface="Segoe UI"/>
              </a:rPr>
              <a:t>In SharePoint and OneDrive it reasons over documents the user can access.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1900" b="0">
                <a:solidFill>
                  <a:srgbClr val="1B1B1F"/>
                </a:solidFill>
                <a:latin typeface="Segoe UI"/>
              </a:rPr>
              <a:t>Group membership and site permissions define what Copilot can use.</a:t>
            </a:r>
          </a:p>
          <a:p>
            <a:pPr marL="285750" indent="-285750">
              <a:spcBef>
                <a:spcPts val="1300"/>
              </a:spcBef>
              <a:buFont typeface="Arial"/>
              <a:buChar char="•"/>
            </a:pPr>
            <a:r>
              <a:rPr lang="en-US" sz="1900" b="0">
                <a:solidFill>
                  <a:srgbClr val="1B1B1F"/>
                </a:solidFill>
                <a:latin typeface="Segoe UI"/>
              </a:rPr>
              <a:t>Copilot adds an intelligence layer; it does not create new copies of the content.</a:t>
            </a:r>
          </a:p>
        </p:txBody>
      </p:sp>
      <p:pic>
        <p:nvPicPr>
          <p:cNvPr id="600" name="Copilot icon" descr="Microsoft 365 Grou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786384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matrix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label per pair, listed once - no pair is repeated in both directions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902827"/>
              </p:ext>
            </p:extLst>
          </p:nvPr>
        </p:nvGraphicFramePr>
        <p:xfrm>
          <a:off x="548640" y="1417320"/>
          <a:ext cx="11064240" cy="3886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3000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3001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3002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3003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3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3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Outlook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SharePoint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OneDrive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 calendar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365 Groups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 email and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 calendar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membership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Connected team site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direct 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relationship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group calendar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Outlook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Meetings and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communication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links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attachments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 calendar in Outlook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3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Channel file storage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Chat file storage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Teams meeting link on events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4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SharePoint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storage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B1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direct relationship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5"/>
                  </a:ext>
                </a:extLst>
              </a:tr>
            </a:tbl>
          </a:graphicData>
        </a:graphic>
      </p:graphicFrame>
      <p:sp>
        <p:nvSpPr>
          <p:cNvPr id="6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577840"/>
            <a:ext cx="11064240" cy="71323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7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577840"/>
            <a:ext cx="64008" cy="713232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560527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83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read it   </a:t>
            </a: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Shaded cells are the mirrored half of the matrix: each unique </a:t>
            </a:r>
            <a:r>
              <a:rPr lang="en-US" sz="130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pair, including the group calendar,</a:t>
            </a: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described once in the upper half.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rules to remember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statements that resolve most Microsoft 365 collaboration confusion</a:t>
            </a:r>
            <a:endParaRPr lang="en-US" sz="1400" dirty="0"/>
          </a:p>
        </p:txBody>
      </p:sp>
      <p:sp>
        <p:nvSpPr>
          <p:cNvPr id="5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4114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1773936"/>
            <a:ext cx="309067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standard Team has a Microsoft 365 Group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standard Team has one or more connected SharePoint sites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Microsoft 365 Group has a connected SharePoint team site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every Microsoft 365 Group has a Team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every SharePoint site has a Microsoft 365 Group</a:t>
            </a:r>
            <a:endParaRPr lang="en-US" sz="1250" dirty="0"/>
          </a:p>
        </p:txBody>
      </p:sp>
      <p:sp>
        <p:nvSpPr>
          <p:cNvPr id="9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13716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1371600"/>
            <a:ext cx="64008" cy="4114800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383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35424" y="1773936"/>
            <a:ext cx="309067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is primarily for personal files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 is primarily for shared organisational files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chat files and Teams channel files use different storage models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email and channel email are different</a:t>
            </a:r>
            <a:endParaRPr lang="en-US" sz="1250" dirty="0"/>
          </a:p>
        </p:txBody>
      </p:sp>
      <p:sp>
        <p:nvSpPr>
          <p:cNvPr id="13" name="cont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3716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371600"/>
            <a:ext cx="64008" cy="4114800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CALENDARS AND COPILOT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84464" y="1773936"/>
            <a:ext cx="309067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calendar and personal calendar are different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Enabling a Teams meeting does not automatically invite all Group members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uses only information the user is authorised to access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Microsoft 365 products extend the collaboration ecosystem</a:t>
            </a:r>
            <a:endParaRPr lang="en-US" sz="1250" dirty="0"/>
          </a:p>
        </p:txBody>
      </p:sp>
      <p:sp>
        <p:nvSpPr>
          <p:cNvPr id="17" name="callou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15000"/>
            <a:ext cx="11064240" cy="71323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8" name="callou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15000"/>
            <a:ext cx="64008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574243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this as a test   </a:t>
            </a:r>
            <a:r>
              <a:rPr lang="en-US" sz="1300" dirty="0">
                <a:solidFill>
                  <a:srgbClr val="1B1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 statement contradicts one of these rules, check where the content is actually stored and which membership grants the access.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8661C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mental model</a:t>
            </a:r>
            <a:endParaRPr lang="en-US" sz="2700" dirty="0"/>
          </a:p>
        </p:txBody>
      </p:sp>
      <p:sp>
        <p:nvSpPr>
          <p:cNvPr id="4" name="Copilot lay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solidFill>
            <a:srgbClr val="3B2B63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C9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 -  authorised context across the ecosystem</a:t>
            </a:r>
            <a:endParaRPr lang="en-US" sz="1400" dirty="0"/>
          </a:p>
        </p:txBody>
      </p:sp>
      <p:sp>
        <p:nvSpPr>
          <p:cNvPr id="6" name="model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74520"/>
            <a:ext cx="3566160" cy="1143000"/>
          </a:xfrm>
          <a:prstGeom prst="rect">
            <a:avLst/>
          </a:prstGeom>
          <a:solidFill>
            <a:srgbClr val="1B3A61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7" name="ti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74520"/>
            <a:ext cx="3566160" cy="640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and calendar</a:t>
            </a:r>
            <a:r>
              <a:rPr lang="en-US" sz="115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including the group calendar</a:t>
            </a:r>
            <a:endParaRPr lang="en-US" sz="1150" dirty="0"/>
          </a:p>
        </p:txBody>
      </p:sp>
      <p:sp>
        <p:nvSpPr>
          <p:cNvPr id="10" name="model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1874520"/>
            <a:ext cx="3566160" cy="1143000"/>
          </a:xfrm>
          <a:prstGeom prst="rect">
            <a:avLst/>
          </a:prstGeom>
          <a:solidFill>
            <a:srgbClr val="1B3A61"/>
          </a:solidFill>
          <a:ln w="19050">
            <a:solidFill>
              <a:srgbClr val="5B5FC7"/>
            </a:solidFill>
            <a:prstDash val="solid"/>
          </a:ln>
        </p:spPr>
      </p:sp>
      <p:sp>
        <p:nvSpPr>
          <p:cNvPr id="11" name="ti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1874520"/>
            <a:ext cx="3566160" cy="64008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Channels, posts, chats, meetings</a:t>
            </a:r>
            <a:r>
              <a:rPr lang="en-US" sz="115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every standard team has a group</a:t>
            </a:r>
            <a:endParaRPr lang="en-US" sz="1150" dirty="0"/>
          </a:p>
        </p:txBody>
      </p:sp>
      <p:sp>
        <p:nvSpPr>
          <p:cNvPr id="14" name="model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874520"/>
            <a:ext cx="3566160" cy="1143000"/>
          </a:xfrm>
          <a:prstGeom prst="rect">
            <a:avLst/>
          </a:prstGeom>
          <a:solidFill>
            <a:srgbClr val="1B3A61"/>
          </a:solidFill>
          <a:ln w="19050">
            <a:solidFill>
              <a:srgbClr val="038387"/>
            </a:solidFill>
            <a:prstDash val="solid"/>
          </a:ln>
        </p:spPr>
      </p:sp>
      <p:sp>
        <p:nvSpPr>
          <p:cNvPr id="15" name="ti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874520"/>
            <a:ext cx="3566160" cy="64008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organisational content</a:t>
            </a:r>
            <a:r>
              <a:rPr lang="en-US" sz="115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a team site for every group</a:t>
            </a:r>
            <a:endParaRPr lang="en-US" sz="1150" dirty="0"/>
          </a:p>
        </p:txBody>
      </p:sp>
      <p:sp>
        <p:nvSpPr>
          <p:cNvPr id="18" name="model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54680"/>
            <a:ext cx="5486400" cy="1143000"/>
          </a:xfrm>
          <a:prstGeom prst="rect">
            <a:avLst/>
          </a:prstGeom>
          <a:solidFill>
            <a:srgbClr val="1B3A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54680"/>
            <a:ext cx="548640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375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Groups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Organise shared membership and connected resources</a:t>
            </a:r>
            <a:endParaRPr lang="en-US" sz="1150" dirty="0"/>
          </a:p>
        </p:txBody>
      </p:sp>
      <p:sp>
        <p:nvSpPr>
          <p:cNvPr id="22" name="model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3154680"/>
            <a:ext cx="5394960" cy="1143000"/>
          </a:xfrm>
          <a:prstGeom prst="rect">
            <a:avLst/>
          </a:prstGeom>
          <a:solidFill>
            <a:srgbClr val="1B3A61"/>
          </a:solidFill>
          <a:ln w="19050">
            <a:solidFill>
              <a:srgbClr val="0364B8"/>
            </a:solidFill>
            <a:prstDash val="solid"/>
          </a:ln>
        </p:spPr>
      </p:sp>
      <p:sp>
        <p:nvSpPr>
          <p:cNvPr id="23" name="ti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3154680"/>
            <a:ext cx="5394960" cy="64008"/>
          </a:xfrm>
          <a:prstGeom prst="rect">
            <a:avLst/>
          </a:prstGeom>
          <a:solidFill>
            <a:srgbClr val="0364B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337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3657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working files, individual ownership</a:t>
            </a:r>
            <a:r>
              <a:rPr lang="en-US" sz="1150">
                <a:solidFill>
                  <a:srgbClr val="B9CC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built on SharePoint technology</a:t>
            </a:r>
            <a:endParaRPr lang="en-US" sz="1150" dirty="0"/>
          </a:p>
        </p:txBody>
      </p:sp>
      <p:sp>
        <p:nvSpPr>
          <p:cNvPr id="26" name="extended services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solidFill>
            <a:srgbClr val="2A4A2E"/>
          </a:solidFill>
          <a:ln w="12700">
            <a:solidFill>
              <a:srgbClr val="9BD4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E6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 ·  Forms  ·  OneNote  ·  Loop  ·  Stream  ·  Viva Engage   -   extend the collaboration experience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 organise membership  ·  the applications provide the experiences  ·  SharePoint and OneDrive hold the content  ·  Copilot works within existing permissions</a:t>
            </a:r>
            <a:endParaRPr lang="en-US" sz="1400" dirty="0"/>
          </a:p>
        </p:txBody>
      </p:sp>
      <p:sp>
        <p:nvSpPr>
          <p:cNvPr id="60" name="closing rul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17304F"/>
          </a:solidFill>
          <a:ln w="12700">
            <a:solidFill>
              <a:srgbClr val="4F8FD1"/>
            </a:solidFill>
            <a:prstDash val="solid"/>
          </a:ln>
        </p:spPr>
      </p:sp>
      <p:sp>
        <p:nvSpPr>
          <p:cNvPr id="61" name="Text closing rule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DCE8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links: every group has a SharePoint team site and every standard team has a group  -  Teams and the extended services are optional additions.</a:t>
            </a:r>
            <a:endParaRPr lang="en-US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</cp:revision>
  <dcterms:created xsi:type="dcterms:W3CDTF">2026-10-01T02:50:30Z</dcterms:created>
  <dcterms:modified xsi:type="dcterms:W3CDTF">2026-10-01T04:09:00Z</dcterms:modified>
</cp:coreProperties>
</file>