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6" r:id="rId12"/>
    <p:sldId id="266" r:id="rId13"/>
    <p:sldId id="267" r:id="rId14"/>
    <p:sldId id="270" r:id="rId15"/>
    <p:sldId id="271" r:id="rId16"/>
    <p:sldId id="288" r:id="rId17"/>
    <p:sldId id="287" r:id="rId18"/>
    <p:sldId id="283" r:id="rId19"/>
    <p:sldId id="284" r:id="rId20"/>
    <p:sldId id="28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3" dt="2026-10-01T04:12:39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F638FB-DB03-4D92-A8C2-4ECB0ED84255}" type="datetimeFigureOut"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7734D-4422-4070-A022-940A0C60EA7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600200"/>
            <a:ext cx="91440" cy="1554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0020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s" sz="3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Ecosistema de Colaboración Microsoft 365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s" sz="3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Integraciones de Servicios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8872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900">
                <a:solidFill>
                  <a:srgbClr val="C9D9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Grupos, Outlook, Teams, SharePoint, OneDrive y Copilot</a:t>
            </a:r>
            <a:endParaRPr lang="en-US" sz="1900" dirty="0"/>
          </a:p>
        </p:txBody>
      </p:sp>
      <p:sp>
        <p:nvSpPr>
          <p:cNvPr id="6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8720" y="4206240"/>
            <a:ext cx="1591056" cy="457200"/>
          </a:xfrm>
          <a:prstGeom prst="roundRect">
            <a:avLst>
              <a:gd name="adj" fmla="val 40000"/>
            </a:avLst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42062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Grupos</a:t>
            </a:r>
            <a:endParaRPr lang="en-US" sz="1200" dirty="0"/>
          </a:p>
        </p:txBody>
      </p:sp>
      <p:sp>
        <p:nvSpPr>
          <p:cNvPr id="8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9504" y="4206240"/>
            <a:ext cx="1591056" cy="457200"/>
          </a:xfrm>
          <a:prstGeom prst="roundRect">
            <a:avLst>
              <a:gd name="adj" fmla="val 40000"/>
            </a:avLst>
          </a:prstGeom>
          <a:solidFill>
            <a:srgbClr val="0078D4"/>
          </a:solidFill>
          <a:ln/>
        </p:spPr>
      </p:sp>
      <p:sp>
        <p:nvSpPr>
          <p:cNvPr id="9" name="Text 7"/>
          <p:cNvSpPr/>
          <p:nvPr/>
        </p:nvSpPr>
        <p:spPr>
          <a:xfrm>
            <a:off x="2889504" y="42062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Perspectivas</a:t>
            </a:r>
            <a:endParaRPr lang="en-US" sz="1200" dirty="0"/>
          </a:p>
        </p:txBody>
      </p:sp>
      <p:sp>
        <p:nvSpPr>
          <p:cNvPr id="10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90288" y="4206240"/>
            <a:ext cx="1591056" cy="457200"/>
          </a:xfrm>
          <a:prstGeom prst="roundRect">
            <a:avLst>
              <a:gd name="adj" fmla="val 40000"/>
            </a:avLst>
          </a:prstGeom>
          <a:solidFill>
            <a:srgbClr val="5B5FC7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42062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Equipos</a:t>
            </a:r>
            <a:endParaRPr lang="en-US" sz="1200" dirty="0"/>
          </a:p>
        </p:txBody>
      </p:sp>
      <p:sp>
        <p:nvSpPr>
          <p:cNvPr id="12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2" y="4206240"/>
            <a:ext cx="1591056" cy="457200"/>
          </a:xfrm>
          <a:prstGeom prst="roundRect">
            <a:avLst>
              <a:gd name="adj" fmla="val 40000"/>
            </a:avLst>
          </a:prstGeom>
          <a:solidFill>
            <a:srgbClr val="038387"/>
          </a:solidFill>
          <a:ln/>
        </p:spPr>
      </p:sp>
      <p:sp>
        <p:nvSpPr>
          <p:cNvPr id="13" name="Text 11"/>
          <p:cNvSpPr/>
          <p:nvPr/>
        </p:nvSpPr>
        <p:spPr>
          <a:xfrm>
            <a:off x="6291072" y="42062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</a:t>
            </a:r>
            <a:endParaRPr lang="en-US" sz="1200" dirty="0"/>
          </a:p>
        </p:txBody>
      </p:sp>
      <p:sp>
        <p:nvSpPr>
          <p:cNvPr id="14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91856" y="4206240"/>
            <a:ext cx="1591056" cy="457200"/>
          </a:xfrm>
          <a:prstGeom prst="roundRect">
            <a:avLst>
              <a:gd name="adj" fmla="val 40000"/>
            </a:avLst>
          </a:prstGeom>
          <a:solidFill>
            <a:srgbClr val="0364B8"/>
          </a:solidFill>
          <a:ln/>
        </p:spPr>
      </p:sp>
      <p:sp>
        <p:nvSpPr>
          <p:cNvPr id="15" name="Text 13"/>
          <p:cNvSpPr/>
          <p:nvPr/>
        </p:nvSpPr>
        <p:spPr>
          <a:xfrm>
            <a:off x="7991856" y="42062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</a:t>
            </a:r>
            <a:endParaRPr lang="en-US" sz="1200" dirty="0"/>
          </a:p>
        </p:txBody>
      </p:sp>
      <p:sp>
        <p:nvSpPr>
          <p:cNvPr id="16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92640" y="4206240"/>
            <a:ext cx="1591056" cy="457200"/>
          </a:xfrm>
          <a:prstGeom prst="roundRect">
            <a:avLst>
              <a:gd name="adj" fmla="val 40000"/>
            </a:avLst>
          </a:prstGeom>
          <a:solidFill>
            <a:srgbClr val="8661C5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0" y="42062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300">
                <a:solidFill>
                  <a:srgbClr val="9FB4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Propósito de cada servicio · Cómo difieren · Cómo se integran · Dónde se almacena el contenido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8661C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Resumen de la colaboración con Microsoft 365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4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Diferentes propósitos principales, una base compartida de identidad, permisos y contenido</a:t>
            </a:r>
            <a:endParaRPr lang="en-US" sz="1400" dirty="0"/>
          </a:p>
        </p:txBody>
      </p:sp>
      <p:sp>
        <p:nvSpPr>
          <p:cNvPr id="5" name="Copilot lay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11064240" cy="658368"/>
          </a:xfrm>
          <a:prstGeom prst="rect">
            <a:avLst/>
          </a:prstGeom>
          <a:solidFill>
            <a:srgbClr val="F2EBFA"/>
          </a:solidFill>
          <a:ln w="12700">
            <a:solidFill>
              <a:srgbClr val="D9C7F0"/>
            </a:solidFill>
            <a:prstDash val="solid"/>
          </a:ln>
        </p:spPr>
      </p:sp>
      <p:sp>
        <p:nvSpPr>
          <p:cNvPr id="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64008" cy="658368"/>
          </a:xfrm>
          <a:prstGeom prst="rect">
            <a:avLst/>
          </a:prstGeom>
          <a:solidFill>
            <a:srgbClr val="8661C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400" b="1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 de inteligencia Microsoft 365   </a:t>
            </a:r>
            <a:r>
              <a:rPr lang="es" sz="14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que trabaja a través de la información a la que cada usuario está autorizado a acceder</a:t>
            </a:r>
            <a:endParaRPr lang="en-US" sz="1400" dirty="0"/>
          </a:p>
        </p:txBody>
      </p:sp>
      <p:sp>
        <p:nvSpPr>
          <p:cNvPr id="8" name="produc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212848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212848"/>
            <a:ext cx="265176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395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400" b="1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Perspectivas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27249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s" sz="12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Correo electrónico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s" sz="12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Calendario</a:t>
            </a:r>
            <a:endParaRPr lang="en-US" sz="1200" dirty="0"/>
          </a:p>
        </p:txBody>
      </p:sp>
      <p:sp>
        <p:nvSpPr>
          <p:cNvPr id="12" name="produc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55848" y="2212848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55848" y="2212848"/>
            <a:ext cx="2651760" cy="73152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14" name="Text 12"/>
          <p:cNvSpPr/>
          <p:nvPr/>
        </p:nvSpPr>
        <p:spPr>
          <a:xfrm>
            <a:off x="3557016" y="2395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400" b="1">
                <a:solidFill>
                  <a:srgbClr val="5B5F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Teams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57016" y="27249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s" sz="12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Canles, publicaciones, chats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s" sz="12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Reuniones</a:t>
            </a:r>
            <a:endParaRPr lang="en-US" sz="1200" dirty="0"/>
          </a:p>
        </p:txBody>
      </p:sp>
      <p:sp>
        <p:nvSpPr>
          <p:cNvPr id="16" name="produc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6" y="2212848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6" y="2212848"/>
            <a:ext cx="2651760" cy="73152"/>
          </a:xfrm>
          <a:prstGeom prst="rect">
            <a:avLst/>
          </a:prstGeom>
          <a:solidFill>
            <a:srgbClr val="038387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2395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400" b="1">
                <a:solidFill>
                  <a:srgbClr val="0383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64224" y="27249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s" sz="12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Lugares y páginas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s" sz="12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Bibliotecas compartidas</a:t>
            </a:r>
            <a:endParaRPr lang="en-US" sz="1200" dirty="0"/>
          </a:p>
        </p:txBody>
      </p:sp>
      <p:sp>
        <p:nvSpPr>
          <p:cNvPr id="20" name="produc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70264" y="2212848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70264" y="2212848"/>
            <a:ext cx="2651760" cy="73152"/>
          </a:xfrm>
          <a:prstGeom prst="rect">
            <a:avLst/>
          </a:prstGeom>
          <a:solidFill>
            <a:srgbClr val="0364B8"/>
          </a:solidFill>
          <a:ln/>
        </p:spPr>
      </p:sp>
      <p:sp>
        <p:nvSpPr>
          <p:cNvPr id="22" name="Text 20"/>
          <p:cNvSpPr/>
          <p:nvPr/>
        </p:nvSpPr>
        <p:spPr>
          <a:xfrm>
            <a:off x="9171432" y="2395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400" b="1">
                <a:solidFill>
                  <a:srgbClr val="0364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71432" y="27249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s" sz="12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personales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s" sz="12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Propiedad individual</a:t>
            </a:r>
            <a:endParaRPr lang="en-US" sz="1200" dirty="0"/>
          </a:p>
        </p:txBody>
      </p:sp>
      <p:sp>
        <p:nvSpPr>
          <p:cNvPr id="24" name="Groups foundation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611880"/>
            <a:ext cx="8083296" cy="65836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6118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25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Grupos · membresía compartida y recursos conectados para Outlook, Teams y SharePoint</a:t>
            </a:r>
            <a:endParaRPr lang="en-US" sz="1250" dirty="0"/>
          </a:p>
        </p:txBody>
      </p:sp>
      <p:sp>
        <p:nvSpPr>
          <p:cNvPr id="26" name="personal scop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0" y="3611880"/>
            <a:ext cx="2651760" cy="658368"/>
          </a:xfrm>
          <a:prstGeom prst="rect">
            <a:avLst/>
          </a:prstGeom>
          <a:solidFill>
            <a:srgbClr val="E6F1FB"/>
          </a:solidFill>
          <a:ln w="12700">
            <a:solidFill>
              <a:srgbClr val="0364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280" y="36118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200" b="1">
                <a:solidFill>
                  <a:srgbClr val="0364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Ámbito personal: propiedad individual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100" b="1" kern="0" spc="1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INTEGRADOS ADICIONALES</a:t>
            </a:r>
            <a:endParaRPr lang="en-US" sz="1100" dirty="0"/>
          </a:p>
        </p:txBody>
      </p:sp>
      <p:sp>
        <p:nvSpPr>
          <p:cNvPr id="29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892040"/>
            <a:ext cx="1737360" cy="420624"/>
          </a:xfrm>
          <a:prstGeom prst="roundRect">
            <a:avLst>
              <a:gd name="adj" fmla="val 43478"/>
            </a:avLst>
          </a:prstGeom>
          <a:solidFill>
            <a:srgbClr val="C86B0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8920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Planificador</a:t>
            </a:r>
            <a:endParaRPr lang="en-US" sz="1200" dirty="0"/>
          </a:p>
        </p:txBody>
      </p:sp>
      <p:sp>
        <p:nvSpPr>
          <p:cNvPr id="31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14016" y="4892040"/>
            <a:ext cx="1737360" cy="420624"/>
          </a:xfrm>
          <a:prstGeom prst="roundRect">
            <a:avLst>
              <a:gd name="adj" fmla="val 43478"/>
            </a:avLst>
          </a:prstGeom>
          <a:solidFill>
            <a:srgbClr val="C86B0E"/>
          </a:solidFill>
          <a:ln/>
        </p:spPr>
      </p:sp>
      <p:sp>
        <p:nvSpPr>
          <p:cNvPr id="32" name="Text 30"/>
          <p:cNvSpPr/>
          <p:nvPr/>
        </p:nvSpPr>
        <p:spPr>
          <a:xfrm>
            <a:off x="2414016" y="48920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Formas</a:t>
            </a:r>
            <a:endParaRPr lang="en-US" sz="1200" dirty="0"/>
          </a:p>
        </p:txBody>
      </p:sp>
      <p:sp>
        <p:nvSpPr>
          <p:cNvPr id="33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9392" y="4892040"/>
            <a:ext cx="1737360" cy="420624"/>
          </a:xfrm>
          <a:prstGeom prst="roundRect">
            <a:avLst>
              <a:gd name="adj" fmla="val 43478"/>
            </a:avLst>
          </a:prstGeom>
          <a:solidFill>
            <a:srgbClr val="C86B0E"/>
          </a:solidFill>
          <a:ln/>
        </p:spPr>
      </p:sp>
      <p:sp>
        <p:nvSpPr>
          <p:cNvPr id="34" name="Text 32"/>
          <p:cNvSpPr/>
          <p:nvPr/>
        </p:nvSpPr>
        <p:spPr>
          <a:xfrm>
            <a:off x="4279392" y="48920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OneNote</a:t>
            </a:r>
            <a:endParaRPr lang="en-US" sz="1200" dirty="0"/>
          </a:p>
        </p:txBody>
      </p:sp>
      <p:sp>
        <p:nvSpPr>
          <p:cNvPr id="35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4768" y="4892040"/>
            <a:ext cx="1737360" cy="420624"/>
          </a:xfrm>
          <a:prstGeom prst="roundRect">
            <a:avLst>
              <a:gd name="adj" fmla="val 43478"/>
            </a:avLst>
          </a:prstGeom>
          <a:solidFill>
            <a:srgbClr val="C86B0E"/>
          </a:solidFill>
          <a:ln/>
        </p:spPr>
      </p:sp>
      <p:sp>
        <p:nvSpPr>
          <p:cNvPr id="36" name="Text 34"/>
          <p:cNvSpPr/>
          <p:nvPr/>
        </p:nvSpPr>
        <p:spPr>
          <a:xfrm>
            <a:off x="6144768" y="48920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Bucle</a:t>
            </a:r>
            <a:endParaRPr lang="en-US" sz="1200" dirty="0"/>
          </a:p>
        </p:txBody>
      </p:sp>
      <p:sp>
        <p:nvSpPr>
          <p:cNvPr id="37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0144" y="4892040"/>
            <a:ext cx="1737360" cy="420624"/>
          </a:xfrm>
          <a:prstGeom prst="roundRect">
            <a:avLst>
              <a:gd name="adj" fmla="val 43478"/>
            </a:avLst>
          </a:prstGeom>
          <a:solidFill>
            <a:srgbClr val="C86B0E"/>
          </a:solidFill>
          <a:ln/>
        </p:spPr>
      </p:sp>
      <p:sp>
        <p:nvSpPr>
          <p:cNvPr id="38" name="Text 36"/>
          <p:cNvSpPr/>
          <p:nvPr/>
        </p:nvSpPr>
        <p:spPr>
          <a:xfrm>
            <a:off x="8010144" y="48920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Arroyo</a:t>
            </a:r>
            <a:endParaRPr lang="en-US" sz="1200" dirty="0"/>
          </a:p>
        </p:txBody>
      </p:sp>
      <p:sp>
        <p:nvSpPr>
          <p:cNvPr id="39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75520" y="4892040"/>
            <a:ext cx="1737360" cy="420624"/>
          </a:xfrm>
          <a:prstGeom prst="roundRect">
            <a:avLst>
              <a:gd name="adj" fmla="val 43478"/>
            </a:avLst>
          </a:prstGeom>
          <a:solidFill>
            <a:srgbClr val="C86B0E"/>
          </a:solidFill>
          <a:ln/>
        </p:spPr>
      </p:sp>
      <p:sp>
        <p:nvSpPr>
          <p:cNvPr id="40" name="Text 38"/>
          <p:cNvSpPr/>
          <p:nvPr/>
        </p:nvSpPr>
        <p:spPr>
          <a:xfrm>
            <a:off x="9875520" y="48920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Viva Engage</a:t>
            </a:r>
            <a:endParaRPr lang="en-US" sz="1200" dirty="0"/>
          </a:p>
        </p:txBody>
      </p:sp>
      <p:sp>
        <p:nvSpPr>
          <p:cNvPr id="41" name="callou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760720"/>
            <a:ext cx="11064240" cy="713232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42" name="callou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760720"/>
            <a:ext cx="64008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" y="578815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300" b="1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 esto como Microsoft   </a:t>
            </a:r>
            <a:r>
              <a:rPr lang="e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365 Groups que proporcionan la base de miembros para muchas experiencias compartidas; esta visión general muestra las capas, no aún todas las integraciones.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Grupos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4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base de membresía y recursos compartidos, no una aplicación</a:t>
            </a:r>
            <a:endParaRPr lang="en-US" sz="1400" dirty="0"/>
          </a:p>
        </p:txBody>
      </p:sp>
      <p:sp>
        <p:nvSpPr>
          <p:cNvPr id="13" name="callou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14" name="callou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64008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55138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300" b="1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distinción clave </a:t>
            </a:r>
            <a:r>
              <a:rPr lang="e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grupo es el contenedor de membresía y recursos; las aplicaciones son las experiencias construidas sobre él.</a:t>
            </a:r>
            <a:endParaRPr lang="en-US" sz="1300" dirty="0"/>
          </a:p>
        </p:txBody>
      </p:sp>
      <p:pic>
        <p:nvPicPr>
          <p:cNvPr id="90" name="Groups icon" descr="Icono plano de tres personas agrupadas, representando los Grupos de Microsoft 3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2926080" cy="2926080"/>
          </a:xfrm>
          <a:prstGeom prst="rect">
            <a:avLst/>
          </a:prstGeom>
        </p:spPr>
      </p:pic>
      <p:sp>
        <p:nvSpPr>
          <p:cNvPr id="91" name="Access URL"/>
          <p:cNvSpPr txBox="1"/>
          <p:nvPr/>
        </p:nvSpPr>
        <p:spPr>
          <a:xfrm>
            <a:off x="548640" y="6035040"/>
            <a:ext cx="11064240" cy="685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txBody>
          <a:bodyPr wrap="square" lIns="182880" tIns="45720" rIns="228600" bIns="45720" anchor="ctr"/>
          <a:lstStyle/>
          <a:p>
            <a:r>
              <a:rPr lang="es" sz="1400" b="1" i="0">
                <a:solidFill>
                  <a:srgbClr val="3A4150"/>
                </a:solidFill>
                <a:latin typeface="Segoe UI"/>
              </a:rPr>
              <a:t>Acceso   </a:t>
            </a:r>
            <a:r>
              <a:rPr lang="es" sz="1700" b="0" i="0">
                <a:solidFill>
                  <a:srgbClr val="1F3864"/>
                </a:solidFill>
                <a:latin typeface="Segoe UI"/>
              </a:rPr>
              <a:t>https://outlook.cloud.microsoft/groups/home</a:t>
            </a:r>
          </a:p>
        </p:txBody>
      </p:sp>
      <p:sp>
        <p:nvSpPr>
          <p:cNvPr id="95" name="Description"/>
          <p:cNvSpPr txBox="1"/>
          <p:nvPr/>
        </p:nvSpPr>
        <p:spPr>
          <a:xfrm>
            <a:off x="3931920" y="1645920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</a:pPr>
            <a:r>
              <a:rPr lang="es" sz="2000" b="0">
                <a:solidFill>
                  <a:srgbClr val="1B1B1F"/>
                </a:solidFill>
                <a:latin typeface="Segoe UI"/>
              </a:rPr>
              <a:t>Un grupo de Microsoft 365 es un contenedor compartido de membresía y recursos sobre el que se construyen otros servicios; no es una aplicación que se abra.</a:t>
            </a:r>
          </a:p>
        </p:txBody>
      </p:sp>
      <p:sp>
        <p:nvSpPr>
          <p:cNvPr id="96" name="Key points"/>
          <p:cNvSpPr txBox="1"/>
          <p:nvPr/>
        </p:nvSpPr>
        <p:spPr>
          <a:xfrm>
            <a:off x="3931920" y="3017520"/>
            <a:ext cx="768096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s" sz="1700" b="0">
                <a:solidFill>
                  <a:srgbClr val="3A4150"/>
                </a:solidFill>
                <a:latin typeface="Segoe UI"/>
              </a:rPr>
              <a:t>Una lista de miembros reutilizada por Outlook, Teams, SharePoint y Planner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s" sz="1700" b="0">
                <a:solidFill>
                  <a:srgbClr val="3A4150"/>
                </a:solidFill>
                <a:latin typeface="Segoe UI"/>
              </a:rPr>
              <a:t>Cada grupo recibe un buzón grupal, un calendario compartido y un sitio de equipo de SharePoint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s" sz="1700" b="0">
                <a:solidFill>
                  <a:srgbClr val="3A4150"/>
                </a:solidFill>
                <a:latin typeface="Segoe UI"/>
              </a:rPr>
              <a:t>Los grupos pueden ser públicos o privados, y un equipo es opcional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Perspectivas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4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experiencia de correo electrónico y calendario para la comunicación personal y grupal</a:t>
            </a:r>
            <a:endParaRPr lang="en-US" sz="1400" dirty="0"/>
          </a:p>
        </p:txBody>
      </p:sp>
      <p:sp>
        <p:nvSpPr>
          <p:cNvPr id="13" name="callou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14" name="callou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64008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55138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300" b="1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Distinción clave:  El </a:t>
            </a:r>
            <a:r>
              <a:rPr lang="e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buzón personal y el calendario pertenecen al usuario; el buzón de grupo y el calendario de grupo pertenecen al Grupo Microsoft 365.</a:t>
            </a:r>
            <a:endParaRPr lang="en-US" sz="1300" dirty="0"/>
          </a:p>
        </p:txBody>
      </p:sp>
      <p:pic>
        <p:nvPicPr>
          <p:cNvPr id="90" name="Outlook icon" descr="Icono plano de un sobre y una página de calendario, que representa el correo electrónico y el calendario de Outloo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2926080" cy="2926080"/>
          </a:xfrm>
          <a:prstGeom prst="rect">
            <a:avLst/>
          </a:prstGeom>
        </p:spPr>
      </p:pic>
      <p:sp>
        <p:nvSpPr>
          <p:cNvPr id="91" name="Access URL"/>
          <p:cNvSpPr txBox="1"/>
          <p:nvPr/>
        </p:nvSpPr>
        <p:spPr>
          <a:xfrm>
            <a:off x="548640" y="6035040"/>
            <a:ext cx="11064240" cy="685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txBody>
          <a:bodyPr wrap="square" lIns="182880" tIns="45720" rIns="228600" bIns="45720" anchor="ctr"/>
          <a:lstStyle/>
          <a:p>
            <a:r>
              <a:rPr lang="es" sz="1400" b="1" i="0">
                <a:solidFill>
                  <a:srgbClr val="3A4150"/>
                </a:solidFill>
                <a:latin typeface="Segoe UI"/>
              </a:rPr>
              <a:t>Acceso   </a:t>
            </a:r>
            <a:r>
              <a:rPr lang="es" sz="1700" b="0" i="0">
                <a:solidFill>
                  <a:srgbClr val="0078D4"/>
                </a:solidFill>
                <a:latin typeface="Segoe UI"/>
              </a:rPr>
              <a:t>https://outlook.cloud.microsoft/</a:t>
            </a:r>
          </a:p>
        </p:txBody>
      </p:sp>
      <p:sp>
        <p:nvSpPr>
          <p:cNvPr id="95" name="Description"/>
          <p:cNvSpPr txBox="1"/>
          <p:nvPr/>
        </p:nvSpPr>
        <p:spPr>
          <a:xfrm>
            <a:off x="3931920" y="1645920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</a:pPr>
            <a:r>
              <a:rPr lang="es" sz="2000" b="0">
                <a:solidFill>
                  <a:srgbClr val="1B1B1F"/>
                </a:solidFill>
                <a:latin typeface="Segoe UI"/>
              </a:rPr>
              <a:t>Outlook es la experiencia de correo electrónico y calendario tanto para la comunicación personal como en grupo.</a:t>
            </a:r>
          </a:p>
        </p:txBody>
      </p:sp>
      <p:sp>
        <p:nvSpPr>
          <p:cNvPr id="96" name="Key points"/>
          <p:cNvSpPr txBox="1"/>
          <p:nvPr/>
        </p:nvSpPr>
        <p:spPr>
          <a:xfrm>
            <a:off x="3931920" y="3017520"/>
            <a:ext cx="768096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s" sz="1700" b="0">
                <a:solidFill>
                  <a:srgbClr val="3A4150"/>
                </a:solidFill>
                <a:latin typeface="Segoe UI"/>
              </a:rPr>
              <a:t>El buzón personal y el calendario personal pertenecen al usuario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s" sz="1700" b="0">
                <a:solidFill>
                  <a:srgbClr val="3A4150"/>
                </a:solidFill>
                <a:latin typeface="Segoe UI"/>
              </a:rPr>
              <a:t>El buzón de grupo y el calendario de grupo pertenecen al Grupo Microsoft 365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s" sz="1700" b="0">
                <a:solidFill>
                  <a:srgbClr val="3A4150"/>
                </a:solidFill>
                <a:latin typeface="Segoe UI"/>
              </a:rPr>
              <a:t>Mis Grupos muestra Grupos Unidos; Discover Groups muestra Grupos públicos para unirse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Teams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4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espacio de trabajo de comunicación y colaboración</a:t>
            </a:r>
            <a:endParaRPr lang="en-US" sz="1400" dirty="0"/>
          </a:p>
        </p:txBody>
      </p:sp>
      <p:sp>
        <p:nvSpPr>
          <p:cNvPr id="13" name="callou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14" name="callou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64008" cy="457200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55138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300" b="1">
                <a:solidFill>
                  <a:srgbClr val="5B5F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Distinción clave   </a:t>
            </a:r>
            <a:r>
              <a:rPr lang="e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proporciona la interfaz para conversaciones y reuniones; los archivos de membresía y compartidos están presentes en el Grupo y sus sitios de SharePoint.</a:t>
            </a:r>
            <a:endParaRPr lang="en-US" sz="1300" dirty="0"/>
          </a:p>
        </p:txBody>
      </p:sp>
      <p:pic>
        <p:nvPicPr>
          <p:cNvPr id="90" name="Teams icon" descr="Icono plano de globos de diálogo con una persona, que representa chats, canales y reuniones de Microsoft Tea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2926080" cy="2926080"/>
          </a:xfrm>
          <a:prstGeom prst="rect">
            <a:avLst/>
          </a:prstGeom>
        </p:spPr>
      </p:pic>
      <p:sp>
        <p:nvSpPr>
          <p:cNvPr id="91" name="Access URL"/>
          <p:cNvSpPr txBox="1"/>
          <p:nvPr/>
        </p:nvSpPr>
        <p:spPr>
          <a:xfrm>
            <a:off x="548640" y="6035040"/>
            <a:ext cx="11064240" cy="685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5B5FC7"/>
            </a:solidFill>
          </a:ln>
        </p:spPr>
        <p:txBody>
          <a:bodyPr wrap="square" lIns="182880" tIns="45720" rIns="228600" bIns="45720" anchor="ctr"/>
          <a:lstStyle/>
          <a:p>
            <a:r>
              <a:rPr lang="es" sz="1400" b="1" i="0">
                <a:solidFill>
                  <a:srgbClr val="3A4150"/>
                </a:solidFill>
                <a:latin typeface="Segoe UI"/>
              </a:rPr>
              <a:t>Acceso   </a:t>
            </a:r>
            <a:r>
              <a:rPr lang="es" sz="1700" b="0" i="0">
                <a:solidFill>
                  <a:srgbClr val="5B5FC7"/>
                </a:solidFill>
                <a:latin typeface="Segoe UI"/>
              </a:rPr>
              <a:t>https://teams.cloud.microsoft/</a:t>
            </a:r>
          </a:p>
        </p:txBody>
      </p:sp>
      <p:sp>
        <p:nvSpPr>
          <p:cNvPr id="95" name="Description"/>
          <p:cNvSpPr txBox="1"/>
          <p:nvPr/>
        </p:nvSpPr>
        <p:spPr>
          <a:xfrm>
            <a:off x="3931920" y="1645920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</a:pPr>
            <a:r>
              <a:rPr lang="es" sz="2000" b="0">
                <a:solidFill>
                  <a:srgbClr val="1B1B1F"/>
                </a:solidFill>
                <a:latin typeface="Segoe UI"/>
              </a:rPr>
              <a:t>Microsoft Teams es el espacio de trabajo para la conversación, las reuniones y la colaboración diaria.</a:t>
            </a:r>
          </a:p>
        </p:txBody>
      </p:sp>
      <p:sp>
        <p:nvSpPr>
          <p:cNvPr id="96" name="Key points"/>
          <p:cNvSpPr txBox="1"/>
          <p:nvPr/>
        </p:nvSpPr>
        <p:spPr>
          <a:xfrm>
            <a:off x="3931920" y="3017520"/>
            <a:ext cx="768096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s" sz="1700" b="0">
                <a:solidFill>
                  <a:srgbClr val="3A4150"/>
                </a:solidFill>
                <a:latin typeface="Segoe UI"/>
              </a:rPr>
              <a:t>Canles, publicaciones, chats y reuniones online en un solo lugar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s" sz="1700" b="0">
                <a:solidFill>
                  <a:srgbClr val="3A4150"/>
                </a:solidFill>
                <a:latin typeface="Segoe UI"/>
              </a:rPr>
              <a:t>Cada equipo estándar está respaldado por un Grupo Microsoft 365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s" sz="1700" b="0">
                <a:solidFill>
                  <a:srgbClr val="3A4150"/>
                </a:solidFill>
                <a:latin typeface="Segoe UI"/>
              </a:rPr>
              <a:t>Los archivos de canal se almacenan en el sitio de SharePoint conectado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03838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4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plataforma de contenido organizacional compartido</a:t>
            </a:r>
            <a:endParaRPr lang="en-US" sz="1400" dirty="0"/>
          </a:p>
        </p:txBody>
      </p:sp>
      <p:sp>
        <p:nvSpPr>
          <p:cNvPr id="13" name="callou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14" name="callou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64008" cy="457200"/>
          </a:xfrm>
          <a:prstGeom prst="rect">
            <a:avLst/>
          </a:prstGeom>
          <a:solidFill>
            <a:srgbClr val="038387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55138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300" b="1">
                <a:solidFill>
                  <a:srgbClr val="0383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distinción clave  entre </a:t>
            </a:r>
            <a:r>
              <a:rPr lang="e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sitios de equipo conectados al grupo y los sitios independientes son ambos SharePoint; solo el primero hereda la membresía del Grupo Microsoft 365.</a:t>
            </a:r>
            <a:endParaRPr lang="en-US" sz="1300" dirty="0"/>
          </a:p>
        </p:txBody>
      </p:sp>
      <p:pic>
        <p:nvPicPr>
          <p:cNvPr id="90" name="SharePoint icon" descr="Icono plano de los nodos del sitio conectado sobre un documento compartido, que representa sitios y bibliotecas de SharePoi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2926080" cy="2926080"/>
          </a:xfrm>
          <a:prstGeom prst="rect">
            <a:avLst/>
          </a:prstGeom>
        </p:spPr>
      </p:pic>
      <p:sp>
        <p:nvSpPr>
          <p:cNvPr id="91" name="Access URL"/>
          <p:cNvSpPr txBox="1"/>
          <p:nvPr/>
        </p:nvSpPr>
        <p:spPr>
          <a:xfrm>
            <a:off x="548640" y="6035040"/>
            <a:ext cx="11064240" cy="685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038387"/>
            </a:solidFill>
          </a:ln>
        </p:spPr>
        <p:txBody>
          <a:bodyPr wrap="square" lIns="182880" tIns="45720" rIns="228600" bIns="45720" anchor="ctr"/>
          <a:lstStyle/>
          <a:p>
            <a:r>
              <a:rPr lang="es" sz="1400" b="1" i="0">
                <a:solidFill>
                  <a:srgbClr val="1B1B1F"/>
                </a:solidFill>
                <a:latin typeface="Segoe UI"/>
              </a:rPr>
              <a:t>Dirección del sitio https://www.microsoft365.com/launch/sharepoint acceso </a:t>
            </a:r>
            <a:r>
              <a:rPr lang="es" sz="1300" b="0" i="1">
                <a:solidFill>
                  <a:srgbClr val="1B1B1F"/>
                </a:solidFill>
                <a:latin typeface="Segoe UI"/>
              </a:rPr>
              <a:t> : https://&lt;inquilino&gt;.sharepoint.com/sites/&lt;nombre del sitio&gt;</a:t>
            </a:r>
          </a:p>
        </p:txBody>
      </p:sp>
      <p:sp>
        <p:nvSpPr>
          <p:cNvPr id="95" name="Description"/>
          <p:cNvSpPr txBox="1"/>
          <p:nvPr/>
        </p:nvSpPr>
        <p:spPr>
          <a:xfrm>
            <a:off x="3931920" y="1645920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</a:pPr>
            <a:r>
              <a:rPr lang="es" sz="2000" b="0">
                <a:solidFill>
                  <a:srgbClr val="1B1B1F"/>
                </a:solidFill>
                <a:latin typeface="Segoe UI"/>
              </a:rPr>
              <a:t>SharePoint es la plataforma que almacena y publica contenido organizativo compartido.</a:t>
            </a:r>
          </a:p>
        </p:txBody>
      </p:sp>
      <p:sp>
        <p:nvSpPr>
          <p:cNvPr id="96" name="Key points"/>
          <p:cNvSpPr txBox="1"/>
          <p:nvPr/>
        </p:nvSpPr>
        <p:spPr>
          <a:xfrm>
            <a:off x="3931920" y="3017520"/>
            <a:ext cx="768096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s" sz="1700" b="0">
                <a:solidFill>
                  <a:srgbClr val="3A4150"/>
                </a:solidFill>
                <a:latin typeface="Segoe UI"/>
              </a:rPr>
              <a:t>Sitios de equipo, sitios de comunicación, bibliotecas de documentos, páginas y listas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s" sz="1700" b="0">
                <a:solidFill>
                  <a:srgbClr val="3A4150"/>
                </a:solidFill>
                <a:latin typeface="Segoe UI"/>
              </a:rPr>
              <a:t>Cada grupo Microsoft 365 tiene un sitio de equipo conectado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s" sz="1700" b="0">
                <a:solidFill>
                  <a:srgbClr val="3A4150"/>
                </a:solidFill>
                <a:latin typeface="Segoe UI"/>
              </a:rPr>
              <a:t>Solo los sitios conectados al Grupo heredan la pertenencia al Grupo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0364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4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Almacenamiento personal de archivos para los archivos de trabajo de un usuario individual</a:t>
            </a:r>
            <a:endParaRPr lang="en-US" sz="1400" dirty="0"/>
          </a:p>
        </p:txBody>
      </p:sp>
      <p:sp>
        <p:nvSpPr>
          <p:cNvPr id="13" name="personal storage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5394960" cy="502920"/>
          </a:xfrm>
          <a:prstGeom prst="rect">
            <a:avLst/>
          </a:prstGeom>
          <a:solidFill>
            <a:srgbClr val="E6F1FB"/>
          </a:solidFill>
          <a:ln w="12700">
            <a:solidFill>
              <a:srgbClr val="0364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486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500" b="1">
                <a:solidFill>
                  <a:srgbClr val="0364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OneDrive:  </a:t>
            </a:r>
            <a:r>
              <a:rPr lang="es" sz="15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 archivos</a:t>
            </a:r>
            <a:endParaRPr lang="en-US" sz="1500" dirty="0"/>
          </a:p>
        </p:txBody>
      </p:sp>
      <p:sp>
        <p:nvSpPr>
          <p:cNvPr id="15" name="shared storage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5486400"/>
            <a:ext cx="5394960" cy="502920"/>
          </a:xfrm>
          <a:prstGeom prst="rect">
            <a:avLst/>
          </a:prstGeom>
          <a:solidFill>
            <a:srgbClr val="E3F3F2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5486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500" b="1">
                <a:solidFill>
                  <a:srgbClr val="0383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SharePoint:  </a:t>
            </a:r>
            <a:r>
              <a:rPr lang="es" sz="15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Nuestros archivos</a:t>
            </a:r>
            <a:endParaRPr lang="en-US" sz="1500" dirty="0"/>
          </a:p>
        </p:txBody>
      </p:sp>
      <p:pic>
        <p:nvPicPr>
          <p:cNvPr id="90" name="OneDrive icon" descr="Icono plano de una nube con un documento, que representa el almacenamiento personal de archivos en la nube de OneDriv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2926080" cy="2926080"/>
          </a:xfrm>
          <a:prstGeom prst="rect">
            <a:avLst/>
          </a:prstGeom>
        </p:spPr>
      </p:pic>
      <p:sp>
        <p:nvSpPr>
          <p:cNvPr id="91" name="Access URL"/>
          <p:cNvSpPr txBox="1"/>
          <p:nvPr/>
        </p:nvSpPr>
        <p:spPr>
          <a:xfrm>
            <a:off x="548640" y="6035040"/>
            <a:ext cx="11064240" cy="685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0364B8"/>
            </a:solidFill>
          </a:ln>
        </p:spPr>
        <p:txBody>
          <a:bodyPr wrap="square" lIns="182880" tIns="45720" rIns="228600" bIns="45720" anchor="ctr"/>
          <a:lstStyle/>
          <a:p>
            <a:r>
              <a:rPr lang="es" sz="1400" b="1" i="0">
                <a:solidFill>
                  <a:srgbClr val="1B1B1F"/>
                </a:solidFill>
                <a:latin typeface="Segoe UI"/>
              </a:rPr>
              <a:t>Acceso   </a:t>
            </a:r>
            <a:r>
              <a:rPr lang="es" sz="1700" b="0" i="0">
                <a:solidFill>
                  <a:srgbClr val="0364B8"/>
                </a:solidFill>
                <a:latin typeface="Segoe UI"/>
              </a:rPr>
              <a:t>https://www.microsoft365.com/launch/onedrive</a:t>
            </a:r>
            <a:r>
              <a:rPr lang="es" sz="1300" b="0" i="1">
                <a:solidFill>
                  <a:srgbClr val="1B1B1F"/>
                </a:solidFill>
                <a:latin typeface="Segoe UI"/>
              </a:rPr>
              <a:t>   biblioteca personal: https://&lt;inquilino&gt;-my.sharepoint.com</a:t>
            </a:r>
          </a:p>
        </p:txBody>
      </p:sp>
      <p:sp>
        <p:nvSpPr>
          <p:cNvPr id="95" name="Description"/>
          <p:cNvSpPr txBox="1"/>
          <p:nvPr/>
        </p:nvSpPr>
        <p:spPr>
          <a:xfrm>
            <a:off x="3931920" y="1645920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</a:pPr>
            <a:r>
              <a:rPr lang="es" sz="2000" b="0">
                <a:solidFill>
                  <a:srgbClr val="1B1B1F"/>
                </a:solidFill>
                <a:latin typeface="Segoe UI"/>
              </a:rPr>
              <a:t>OneDrive es almacenamiento personal en la nube para los archivos de trabajo de un usuario individual.</a:t>
            </a:r>
          </a:p>
        </p:txBody>
      </p:sp>
      <p:sp>
        <p:nvSpPr>
          <p:cNvPr id="96" name="Key points"/>
          <p:cNvSpPr txBox="1"/>
          <p:nvPr/>
        </p:nvSpPr>
        <p:spPr>
          <a:xfrm>
            <a:off x="3931920" y="3017520"/>
            <a:ext cx="768096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s" sz="1700" b="0">
                <a:solidFill>
                  <a:srgbClr val="3A4150"/>
                </a:solidFill>
                <a:latin typeface="Segoe UI"/>
              </a:rPr>
              <a:t>Los archivos son propiedad del usuario y se comparten únicamente mediante invitación explícita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s" sz="1700" b="0">
                <a:solidFill>
                  <a:srgbClr val="3A4150"/>
                </a:solidFill>
                <a:latin typeface="Segoe UI"/>
              </a:rPr>
              <a:t>Construido sobre tecnología SharePoint, pero no es una ubicación compartida del equipo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s" sz="1700" b="0">
                <a:solidFill>
                  <a:srgbClr val="3A4150"/>
                </a:solidFill>
                <a:latin typeface="Segoe UI"/>
              </a:rPr>
              <a:t>El contenido destinado a todo el grupo pertenece a SharePoint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8661C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4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capa de inteligencia que trabaja sobre información autorizada de Microsoft 365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200" b="1" kern="0" spc="1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 AUTORIZADO QUE COPILOT PUEDE USAR</a:t>
            </a:r>
            <a:endParaRPr lang="en-US" sz="1200"/>
          </a:p>
        </p:txBody>
      </p:sp>
      <p:sp>
        <p:nvSpPr>
          <p:cNvPr id="6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37360"/>
            <a:ext cx="3566160" cy="512064"/>
          </a:xfrm>
          <a:prstGeom prst="roundRect">
            <a:avLst>
              <a:gd name="adj" fmla="val 35714"/>
            </a:avLst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Perspectivas</a:t>
            </a:r>
            <a:endParaRPr lang="en-US" sz="1200" dirty="0"/>
          </a:p>
        </p:txBody>
      </p:sp>
      <p:sp>
        <p:nvSpPr>
          <p:cNvPr id="8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0248" y="1737360"/>
            <a:ext cx="3566160" cy="512064"/>
          </a:xfrm>
          <a:prstGeom prst="roundRect">
            <a:avLst>
              <a:gd name="adj" fmla="val 35714"/>
            </a:avLst>
          </a:prstGeom>
          <a:solidFill>
            <a:srgbClr val="5B5FC7"/>
          </a:solidFill>
          <a:ln/>
        </p:spPr>
      </p:sp>
      <p:sp>
        <p:nvSpPr>
          <p:cNvPr id="9" name="Text 7"/>
          <p:cNvSpPr/>
          <p:nvPr/>
        </p:nvSpPr>
        <p:spPr>
          <a:xfrm>
            <a:off x="4270248" y="173736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Equipos</a:t>
            </a:r>
            <a:endParaRPr lang="en-US" sz="1200" dirty="0"/>
          </a:p>
        </p:txBody>
      </p:sp>
      <p:sp>
        <p:nvSpPr>
          <p:cNvPr id="10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91856" y="1737360"/>
            <a:ext cx="3566160" cy="512064"/>
          </a:xfrm>
          <a:prstGeom prst="roundRect">
            <a:avLst>
              <a:gd name="adj" fmla="val 35714"/>
            </a:avLst>
          </a:prstGeom>
          <a:solidFill>
            <a:srgbClr val="038387"/>
          </a:solidFill>
          <a:ln/>
        </p:spPr>
      </p:sp>
      <p:sp>
        <p:nvSpPr>
          <p:cNvPr id="11" name="Text 9"/>
          <p:cNvSpPr/>
          <p:nvPr/>
        </p:nvSpPr>
        <p:spPr>
          <a:xfrm>
            <a:off x="7991856" y="173736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</a:t>
            </a:r>
            <a:endParaRPr lang="en-US" sz="1200" dirty="0"/>
          </a:p>
        </p:txBody>
      </p:sp>
      <p:sp>
        <p:nvSpPr>
          <p:cNvPr id="12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59152"/>
            <a:ext cx="3566160" cy="512064"/>
          </a:xfrm>
          <a:prstGeom prst="roundRect">
            <a:avLst>
              <a:gd name="adj" fmla="val 35714"/>
            </a:avLst>
          </a:prstGeom>
          <a:solidFill>
            <a:srgbClr val="0364B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5915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</a:t>
            </a:r>
            <a:endParaRPr lang="en-US" sz="1200" dirty="0"/>
          </a:p>
        </p:txBody>
      </p:sp>
      <p:sp>
        <p:nvSpPr>
          <p:cNvPr id="14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0248" y="2359152"/>
            <a:ext cx="3566160" cy="512064"/>
          </a:xfrm>
          <a:prstGeom prst="roundRect">
            <a:avLst>
              <a:gd name="adj" fmla="val 35714"/>
            </a:avLst>
          </a:prstGeom>
          <a:solidFill>
            <a:srgbClr val="1F3864"/>
          </a:solidFill>
          <a:ln/>
        </p:spPr>
      </p:sp>
      <p:sp>
        <p:nvSpPr>
          <p:cNvPr id="15" name="Text 13"/>
          <p:cNvSpPr/>
          <p:nvPr/>
        </p:nvSpPr>
        <p:spPr>
          <a:xfrm>
            <a:off x="4270248" y="235915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Calendarios</a:t>
            </a:r>
            <a:endParaRPr lang="en-US" sz="1200" dirty="0"/>
          </a:p>
        </p:txBody>
      </p:sp>
      <p:sp>
        <p:nvSpPr>
          <p:cNvPr id="16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91856" y="2359152"/>
            <a:ext cx="3566160" cy="512064"/>
          </a:xfrm>
          <a:prstGeom prst="roundRect">
            <a:avLst>
              <a:gd name="adj" fmla="val 35714"/>
            </a:avLst>
          </a:prstGeom>
          <a:solidFill>
            <a:srgbClr val="5B5FC7"/>
          </a:solidFill>
          <a:ln/>
        </p:spPr>
      </p:sp>
      <p:sp>
        <p:nvSpPr>
          <p:cNvPr id="17" name="Text 15"/>
          <p:cNvSpPr/>
          <p:nvPr/>
        </p:nvSpPr>
        <p:spPr>
          <a:xfrm>
            <a:off x="7991856" y="235915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Reuniones</a:t>
            </a:r>
            <a:endParaRPr lang="en-US" sz="1200" dirty="0"/>
          </a:p>
        </p:txBody>
      </p:sp>
      <p:sp>
        <p:nvSpPr>
          <p:cNvPr id="18" name="permission boundary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35808"/>
            <a:ext cx="11064240" cy="457200"/>
          </a:xfrm>
          <a:prstGeom prst="rect">
            <a:avLst/>
          </a:prstGeom>
          <a:solidFill>
            <a:srgbClr val="F2EBF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358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300" b="1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esto está filtrado por los permisos existentes del usuario</a:t>
            </a:r>
            <a:endParaRPr lang="en-US" sz="1300" dirty="0"/>
          </a:p>
        </p:txBody>
      </p:sp>
      <p:sp>
        <p:nvSpPr>
          <p:cNvPr id="20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639312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639312"/>
            <a:ext cx="64008" cy="1828800"/>
          </a:xfrm>
          <a:prstGeom prst="rect">
            <a:avLst/>
          </a:prstGeom>
          <a:solidFill>
            <a:srgbClr val="8661C5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749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200" b="1" kern="0" spc="10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HACE COPILOT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786384" y="4041648"/>
            <a:ext cx="4919472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Resume, redacta y compara contenido autorizado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 en varios servicios en una sola solicitud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Acciones de superficie, decisiones y seguimientos</a:t>
            </a:r>
            <a:endParaRPr lang="en-US" sz="1300" dirty="0"/>
          </a:p>
        </p:txBody>
      </p:sp>
      <p:sp>
        <p:nvSpPr>
          <p:cNvPr id="24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3639312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3639312"/>
            <a:ext cx="64008" cy="1828800"/>
          </a:xfrm>
          <a:prstGeom prst="rect">
            <a:avLst/>
          </a:prstGeom>
          <a:solidFill>
            <a:srgbClr val="C4314B"/>
          </a:solidFill>
          <a:ln/>
        </p:spPr>
      </p:sp>
      <p:sp>
        <p:nvSpPr>
          <p:cNvPr id="26" name="Text 24"/>
          <p:cNvSpPr/>
          <p:nvPr/>
        </p:nvSpPr>
        <p:spPr>
          <a:xfrm>
            <a:off x="6473952" y="3749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200" b="1" kern="0" spc="100">
                <a:solidFill>
                  <a:srgbClr val="C431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COPILOT NO HACE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6455664" y="4041648"/>
            <a:ext cx="4919472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Concede acceso a información que el usuario no pueda abrir ya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Sustituye Outlook, Teams, SharePoint o OneDrive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 una copia separada del contenido organizativo</a:t>
            </a:r>
            <a:endParaRPr lang="en-US" sz="1300" dirty="0"/>
          </a:p>
        </p:txBody>
      </p:sp>
      <p:sp>
        <p:nvSpPr>
          <p:cNvPr id="28" name="callou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29" name="callou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64008" cy="457200"/>
          </a:xfrm>
          <a:prstGeom prst="rect">
            <a:avLst/>
          </a:prstGeom>
          <a:solidFill>
            <a:srgbClr val="8661C5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55138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300" b="1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Distinción clave   </a:t>
            </a:r>
            <a:r>
              <a:rPr lang="e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Dónde se almacena la información, cómo se organiza y quién tiene permiso influyen en el contexto disponible para Copilot.</a:t>
            </a:r>
            <a:endParaRPr lang="en-US" sz="1300" dirty="0"/>
          </a:p>
        </p:txBody>
      </p:sp>
      <p:pic>
        <p:nvPicPr>
          <p:cNvPr id="90" name="Copilot icon" descr="Icono plano de destellos, que representa la capa asistente de Copilot de Microsoft 3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416" y="283464"/>
            <a:ext cx="1005840" cy="1005840"/>
          </a:xfrm>
          <a:prstGeom prst="rect">
            <a:avLst/>
          </a:prstGeom>
        </p:spPr>
      </p:pic>
      <p:sp>
        <p:nvSpPr>
          <p:cNvPr id="91" name="Access URL"/>
          <p:cNvSpPr txBox="1"/>
          <p:nvPr/>
        </p:nvSpPr>
        <p:spPr>
          <a:xfrm>
            <a:off x="548640" y="6035040"/>
            <a:ext cx="11064240" cy="685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8661C5"/>
            </a:solidFill>
          </a:ln>
        </p:spPr>
        <p:txBody>
          <a:bodyPr wrap="square" lIns="182880" tIns="45720" rIns="228600" bIns="45720" anchor="ctr"/>
          <a:lstStyle/>
          <a:p>
            <a:r>
              <a:rPr lang="es" sz="1400" b="1" i="0">
                <a:solidFill>
                  <a:srgbClr val="3A4150"/>
                </a:solidFill>
                <a:latin typeface="Segoe UI"/>
              </a:rPr>
              <a:t>Acceso   </a:t>
            </a:r>
            <a:r>
              <a:rPr lang="es" sz="1700" b="0" i="0">
                <a:solidFill>
                  <a:srgbClr val="8661C5"/>
                </a:solidFill>
                <a:latin typeface="Segoe UI"/>
              </a:rPr>
              <a:t>https://m365.cloud.microsoft/chat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C86B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Otros productos de Microsoft 365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4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que amplían el ecosistema de colaboración más allá de los seis componentes principales</a:t>
            </a:r>
            <a:endParaRPr lang="en-US" sz="1400" dirty="0"/>
          </a:p>
        </p:txBody>
      </p:sp>
      <p:sp>
        <p:nvSpPr>
          <p:cNvPr id="5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173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17320"/>
            <a:ext cx="64008" cy="1920240"/>
          </a:xfrm>
          <a:prstGeom prst="rect">
            <a:avLst/>
          </a:prstGeom>
          <a:solidFill>
            <a:srgbClr val="C86B0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527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100" b="1" kern="0" spc="100">
                <a:solidFill>
                  <a:srgbClr val="C86B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PLANNER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1965960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" sz="1200" b="0" i="0">
                <a:solidFill>
                  <a:srgbClr val="3A4150"/>
                </a:solidFill>
                <a:latin typeface="Segoe UI"/>
              </a:rPr>
              <a:t>Gestión de tareas para planes, cubos y asignaciones, compartidos con Grupos y Equipos.</a:t>
            </a:r>
          </a:p>
        </p:txBody>
      </p:sp>
      <p:sp>
        <p:nvSpPr>
          <p:cNvPr id="9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0248" y="14173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0248" y="1417320"/>
            <a:ext cx="64008" cy="1920240"/>
          </a:xfrm>
          <a:prstGeom prst="rect">
            <a:avLst/>
          </a:prstGeom>
          <a:solidFill>
            <a:srgbClr val="C86B0E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527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100" b="1" kern="0" spc="100">
                <a:solidFill>
                  <a:srgbClr val="C86B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FORMS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07992" y="1965960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" sz="1200" b="0" i="0">
                <a:solidFill>
                  <a:srgbClr val="3A4150"/>
                </a:solidFill>
                <a:latin typeface="Segoe UI"/>
              </a:rPr>
              <a:t>Encuestas, cuestionarios y cuestionarios compartidos a través de Teams, Outlook y SharePoint.</a:t>
            </a:r>
          </a:p>
        </p:txBody>
      </p:sp>
      <p:sp>
        <p:nvSpPr>
          <p:cNvPr id="13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91856" y="14173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91856" y="1417320"/>
            <a:ext cx="64008" cy="1920240"/>
          </a:xfrm>
          <a:prstGeom prst="rect">
            <a:avLst/>
          </a:prstGeom>
          <a:solidFill>
            <a:srgbClr val="C86B0E"/>
          </a:solidFill>
          <a:ln/>
        </p:spPr>
      </p:sp>
      <p:sp>
        <p:nvSpPr>
          <p:cNvPr id="15" name="Text 13"/>
          <p:cNvSpPr/>
          <p:nvPr/>
        </p:nvSpPr>
        <p:spPr>
          <a:xfrm>
            <a:off x="8247888" y="1527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100" b="1" kern="0" spc="100">
                <a:solidFill>
                  <a:srgbClr val="C86B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ONENOTE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1965960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" sz="1200" b="0" i="0">
                <a:solidFill>
                  <a:srgbClr val="3A4150"/>
                </a:solidFill>
                <a:latin typeface="Segoe UI"/>
              </a:rPr>
              <a:t>Cuadernos compartidos para notas colaborativas dentro de los espacios de Teams y SharePoint.</a:t>
            </a:r>
          </a:p>
        </p:txBody>
      </p:sp>
      <p:sp>
        <p:nvSpPr>
          <p:cNvPr id="17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747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74720"/>
            <a:ext cx="64008" cy="1920240"/>
          </a:xfrm>
          <a:prstGeom prst="rect">
            <a:avLst/>
          </a:prstGeom>
          <a:solidFill>
            <a:srgbClr val="C86B0E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584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100" b="1" kern="0" spc="100">
                <a:solidFill>
                  <a:srgbClr val="C86B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LOOP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" y="4023360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" sz="1200" b="0" i="0">
                <a:solidFill>
                  <a:srgbClr val="3A4150"/>
                </a:solidFill>
                <a:latin typeface="Segoe UI"/>
              </a:rPr>
              <a:t>Espacios de trabajo colaborativos cuyos componentes se mantienen sincronizados entre Teams y Outlook.</a:t>
            </a:r>
          </a:p>
        </p:txBody>
      </p:sp>
      <p:sp>
        <p:nvSpPr>
          <p:cNvPr id="21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0248" y="34747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0248" y="3474720"/>
            <a:ext cx="64008" cy="1920240"/>
          </a:xfrm>
          <a:prstGeom prst="rect">
            <a:avLst/>
          </a:prstGeom>
          <a:solidFill>
            <a:srgbClr val="C86B0E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3584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100" b="1" kern="0" spc="100">
                <a:solidFill>
                  <a:srgbClr val="C86B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STREAM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07992" y="4023360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" sz="1200" b="0" i="0">
                <a:solidFill>
                  <a:srgbClr val="3A4150"/>
                </a:solidFill>
                <a:latin typeface="Segoe UI"/>
              </a:rPr>
              <a:t>Vídeo en Microsoft 365, almacenado en SharePoint o OneDrive según la propiedad.</a:t>
            </a:r>
          </a:p>
        </p:txBody>
      </p:sp>
      <p:sp>
        <p:nvSpPr>
          <p:cNvPr id="25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91856" y="34747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91856" y="3474720"/>
            <a:ext cx="64008" cy="1920240"/>
          </a:xfrm>
          <a:prstGeom prst="rect">
            <a:avLst/>
          </a:prstGeom>
          <a:solidFill>
            <a:srgbClr val="C86B0E"/>
          </a:solidFill>
          <a:ln/>
        </p:spPr>
      </p:sp>
      <p:sp>
        <p:nvSpPr>
          <p:cNvPr id="27" name="Text 25"/>
          <p:cNvSpPr/>
          <p:nvPr/>
        </p:nvSpPr>
        <p:spPr>
          <a:xfrm>
            <a:off x="8247888" y="3584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100" b="1" kern="0" spc="100">
                <a:solidFill>
                  <a:srgbClr val="C86B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VIVA ENGAGE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4023360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" sz="1200" b="0" i="0">
                <a:solidFill>
                  <a:srgbClr val="3A4150"/>
                </a:solidFill>
                <a:latin typeface="Segoe UI"/>
              </a:rPr>
              <a:t>Comunidades y conversaciones a nivel de organización que complementan Outlook y Teams.</a:t>
            </a:r>
          </a:p>
        </p:txBody>
      </p:sp>
      <p:sp>
        <p:nvSpPr>
          <p:cNvPr id="29" name="callou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669280"/>
            <a:ext cx="11064240" cy="713232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30" name="callou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669280"/>
            <a:ext cx="64008" cy="713232"/>
          </a:xfrm>
          <a:prstGeom prst="rect">
            <a:avLst/>
          </a:prstGeom>
          <a:solidFill>
            <a:srgbClr val="C86B0E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569671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300" b="1">
                <a:solidFill>
                  <a:srgbClr val="C86B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Alcance   </a:t>
            </a:r>
            <a:r>
              <a:rPr lang="e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Estos productos extienden el ecosistema y aparecen en el mapa final, pero no forman parte del análisis de integración por pares que sigue.</a:t>
            </a:r>
            <a:endParaRPr lang="en-US" sz="1300" dirty="0"/>
          </a:p>
        </p:txBody>
      </p:sp>
      <p:sp>
        <p:nvSpPr>
          <p:cNvPr id="400" name="Access 301"/>
          <p:cNvSpPr txBox="1"/>
          <p:nvPr/>
        </p:nvSpPr>
        <p:spPr>
          <a:xfrm>
            <a:off x="804672" y="2834640"/>
            <a:ext cx="305409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E7D4F"/>
            </a:solidFill>
          </a:ln>
        </p:spPr>
        <p:txBody>
          <a:bodyPr wrap="square" lIns="109728" tIns="27432" rIns="91440" bIns="27432" anchor="ctr"/>
          <a:lstStyle/>
          <a:p>
            <a:r>
              <a:rPr lang="es" sz="1000" b="0" i="0">
                <a:solidFill>
                  <a:srgbClr val="2E7D4F"/>
                </a:solidFill>
                <a:latin typeface="Segoe UI"/>
              </a:rPr>
              <a:t>https://planner.cloud.microsoft/</a:t>
            </a:r>
          </a:p>
        </p:txBody>
      </p:sp>
      <p:sp>
        <p:nvSpPr>
          <p:cNvPr id="401" name="Access 302"/>
          <p:cNvSpPr txBox="1"/>
          <p:nvPr/>
        </p:nvSpPr>
        <p:spPr>
          <a:xfrm>
            <a:off x="4526280" y="2834640"/>
            <a:ext cx="305409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2185B"/>
            </a:solidFill>
          </a:ln>
        </p:spPr>
        <p:txBody>
          <a:bodyPr wrap="square" lIns="109728" tIns="27432" rIns="91440" bIns="27432" anchor="ctr"/>
          <a:lstStyle/>
          <a:p>
            <a:r>
              <a:rPr lang="es" sz="1000" b="0" i="0">
                <a:solidFill>
                  <a:srgbClr val="C2185B"/>
                </a:solidFill>
                <a:latin typeface="Segoe UI"/>
              </a:rPr>
              <a:t>https://forms.cloud.microsoft/</a:t>
            </a:r>
          </a:p>
        </p:txBody>
      </p:sp>
      <p:sp>
        <p:nvSpPr>
          <p:cNvPr id="402" name="Access 303"/>
          <p:cNvSpPr txBox="1"/>
          <p:nvPr/>
        </p:nvSpPr>
        <p:spPr>
          <a:xfrm>
            <a:off x="8247888" y="2834640"/>
            <a:ext cx="305409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7719AA"/>
            </a:solidFill>
          </a:ln>
        </p:spPr>
        <p:txBody>
          <a:bodyPr wrap="square" lIns="109728" tIns="27432" rIns="91440" bIns="27432" anchor="ctr"/>
          <a:lstStyle/>
          <a:p>
            <a:r>
              <a:rPr lang="es" sz="1000" b="0" i="0">
                <a:solidFill>
                  <a:srgbClr val="7719AA"/>
                </a:solidFill>
                <a:latin typeface="Segoe UI"/>
              </a:rPr>
              <a:t>https://www.microsoft365.com/launch/onenote</a:t>
            </a:r>
          </a:p>
        </p:txBody>
      </p:sp>
      <p:sp>
        <p:nvSpPr>
          <p:cNvPr id="403" name="Access 304"/>
          <p:cNvSpPr txBox="1"/>
          <p:nvPr/>
        </p:nvSpPr>
        <p:spPr>
          <a:xfrm>
            <a:off x="804672" y="4892040"/>
            <a:ext cx="305409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D0533D"/>
            </a:solidFill>
          </a:ln>
        </p:spPr>
        <p:txBody>
          <a:bodyPr wrap="square" lIns="109728" tIns="27432" rIns="91440" bIns="27432" anchor="ctr"/>
          <a:lstStyle/>
          <a:p>
            <a:r>
              <a:rPr lang="es" sz="1000" b="0" i="0">
                <a:solidFill>
                  <a:srgbClr val="D0533D"/>
                </a:solidFill>
                <a:latin typeface="Segoe UI"/>
              </a:rPr>
              <a:t>https://loop.cloud.microsoft/</a:t>
            </a:r>
          </a:p>
        </p:txBody>
      </p:sp>
      <p:sp>
        <p:nvSpPr>
          <p:cNvPr id="404" name="Access 305"/>
          <p:cNvSpPr txBox="1"/>
          <p:nvPr/>
        </p:nvSpPr>
        <p:spPr>
          <a:xfrm>
            <a:off x="4526280" y="4892040"/>
            <a:ext cx="305409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4F52B2"/>
            </a:solidFill>
          </a:ln>
        </p:spPr>
        <p:txBody>
          <a:bodyPr wrap="square" lIns="109728" tIns="27432" rIns="91440" bIns="27432" anchor="ctr"/>
          <a:lstStyle/>
          <a:p>
            <a:r>
              <a:rPr lang="es" sz="1000" b="0" i="0">
                <a:solidFill>
                  <a:srgbClr val="4F52B2"/>
                </a:solidFill>
                <a:latin typeface="Segoe UI"/>
              </a:rPr>
              <a:t>https://www.microsoft365.com/launch/stream</a:t>
            </a:r>
          </a:p>
        </p:txBody>
      </p:sp>
      <p:sp>
        <p:nvSpPr>
          <p:cNvPr id="405" name="Access 306"/>
          <p:cNvSpPr txBox="1"/>
          <p:nvPr/>
        </p:nvSpPr>
        <p:spPr>
          <a:xfrm>
            <a:off x="8247888" y="4892040"/>
            <a:ext cx="305409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A7F8E"/>
            </a:solidFill>
          </a:ln>
        </p:spPr>
        <p:txBody>
          <a:bodyPr wrap="square" lIns="109728" tIns="27432" rIns="91440" bIns="27432" anchor="ctr"/>
          <a:lstStyle/>
          <a:p>
            <a:r>
              <a:rPr lang="es" sz="1000" b="0" i="0">
                <a:solidFill>
                  <a:srgbClr val="1A7F8E"/>
                </a:solidFill>
                <a:latin typeface="Segoe UI"/>
              </a:rPr>
              <a:t>https://engage.cloud.microsoft/</a:t>
            </a:r>
          </a:p>
        </p:txBody>
      </p:sp>
      <p:pic>
        <p:nvPicPr>
          <p:cNvPr id="500" name="planner icon" descr="Símbolo de planificad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8" y="1508760"/>
            <a:ext cx="411480" cy="411480"/>
          </a:xfrm>
          <a:prstGeom prst="rect">
            <a:avLst/>
          </a:prstGeom>
        </p:spPr>
      </p:pic>
      <p:pic>
        <p:nvPicPr>
          <p:cNvPr id="501" name="forms icon" descr="Símbolo de form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1508760"/>
            <a:ext cx="411480" cy="411480"/>
          </a:xfrm>
          <a:prstGeom prst="rect">
            <a:avLst/>
          </a:prstGeom>
        </p:spPr>
      </p:pic>
      <p:pic>
        <p:nvPicPr>
          <p:cNvPr id="502" name="onenote icon" descr="Símbolo de OneNo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0504" y="1508760"/>
            <a:ext cx="411480" cy="411480"/>
          </a:xfrm>
          <a:prstGeom prst="rect">
            <a:avLst/>
          </a:prstGeom>
        </p:spPr>
      </p:pic>
      <p:pic>
        <p:nvPicPr>
          <p:cNvPr id="503" name="loop icon" descr="Símbolo de buc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7288" y="3566160"/>
            <a:ext cx="411480" cy="411480"/>
          </a:xfrm>
          <a:prstGeom prst="rect">
            <a:avLst/>
          </a:prstGeom>
        </p:spPr>
      </p:pic>
      <p:pic>
        <p:nvPicPr>
          <p:cNvPr id="504" name="stream icon" descr="Símbolo de corrient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8896" y="3566160"/>
            <a:ext cx="411480" cy="411480"/>
          </a:xfrm>
          <a:prstGeom prst="rect">
            <a:avLst/>
          </a:prstGeom>
        </p:spPr>
      </p:pic>
      <p:pic>
        <p:nvPicPr>
          <p:cNvPr id="505" name="engage icon" descr="Símbolo de Eng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90504" y="356616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Grupos y Outlook de Microsoft 365</a:t>
            </a:r>
            <a:endParaRPr lang="en-US" sz="2700" dirty="0"/>
          </a:p>
        </p:txBody>
      </p:sp>
      <p:sp>
        <p:nvSpPr>
          <p:cNvPr id="4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6464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1426464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Grupos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15384" y="9326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800" b="1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 dirty="0"/>
          </a:p>
        </p:txBody>
      </p:sp>
      <p:sp>
        <p:nvSpPr>
          <p:cNvPr id="7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41848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5641848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Perspectivas</a:t>
            </a:r>
            <a:endParaRPr lang="en-US" sz="1200" dirty="0"/>
          </a:p>
        </p:txBody>
      </p:sp>
      <p:sp>
        <p:nvSpPr>
          <p:cNvPr id="40" name="content card"/>
          <p:cNvSpPr/>
          <p:nvPr/>
        </p:nvSpPr>
        <p:spPr>
          <a:xfrm>
            <a:off x="548640" y="1572768"/>
            <a:ext cx="110642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</p:sp>
      <p:sp>
        <p:nvSpPr>
          <p:cNvPr id="41" name="card accent"/>
          <p:cNvSpPr/>
          <p:nvPr/>
        </p:nvSpPr>
        <p:spPr>
          <a:xfrm>
            <a:off x="548640" y="1572768"/>
            <a:ext cx="64008" cy="466344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42" name="Group bullets"/>
          <p:cNvSpPr txBox="1"/>
          <p:nvPr/>
        </p:nvSpPr>
        <p:spPr>
          <a:xfrm>
            <a:off x="914400" y="1874520"/>
            <a:ext cx="10378440" cy="4059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Ofrece una identidad compartida para un equipo o comunidad.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Incluye una dirección de correo y un buzón compartido.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El correo enviado al grupo llega a todos sus miembros.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miembros participan en las conversaciones desde Outlook.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grupos pueden ser públicos o privados.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públicos son visibles para toda la organización.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Cualquiera puede unirse a un grupo público.</a:t>
            </a:r>
          </a:p>
        </p:txBody>
      </p:sp>
      <p:pic>
        <p:nvPicPr>
          <p:cNvPr id="600" name="Microsoft 365 Groups icon" descr="Microsoft 365 Grup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77240"/>
            <a:ext cx="786384" cy="786384"/>
          </a:xfrm>
          <a:prstGeom prst="rect">
            <a:avLst/>
          </a:prstGeom>
        </p:spPr>
      </p:pic>
      <p:pic>
        <p:nvPicPr>
          <p:cNvPr id="601" name="Outlook icon" descr="Perspectiv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777240"/>
            <a:ext cx="786384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2700" b="1">
                <a:solidFill>
                  <a:srgbClr val="1B1B1F"/>
                </a:solidFill>
                <a:latin typeface="Segoe UI"/>
                <a:ea typeface="Segoe UI" pitchFamily="34" charset="-122"/>
                <a:cs typeface="Segoe UI"/>
              </a:rPr>
              <a:t>Grupos y calendario de Microsoft 365</a:t>
            </a:r>
            <a:endParaRPr lang="en-US" sz="2700" dirty="0">
              <a:latin typeface="Segoe UI"/>
              <a:cs typeface="Segoe UI"/>
            </a:endParaRPr>
          </a:p>
        </p:txBody>
      </p:sp>
      <p:sp>
        <p:nvSpPr>
          <p:cNvPr id="4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6464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1426464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Grupos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4215384" y="9326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800" b="1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/>
          </a:p>
        </p:txBody>
      </p:sp>
      <p:sp>
        <p:nvSpPr>
          <p:cNvPr id="7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41848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5641848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Calendario de grupos</a:t>
            </a:r>
            <a:endParaRPr lang="en-US" sz="1200"/>
          </a:p>
        </p:txBody>
      </p:sp>
      <p:sp>
        <p:nvSpPr>
          <p:cNvPr id="40" name="content card"/>
          <p:cNvSpPr/>
          <p:nvPr/>
        </p:nvSpPr>
        <p:spPr>
          <a:xfrm>
            <a:off x="548640" y="1572768"/>
            <a:ext cx="110642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</p:sp>
      <p:sp>
        <p:nvSpPr>
          <p:cNvPr id="41" name="card accent"/>
          <p:cNvSpPr/>
          <p:nvPr/>
        </p:nvSpPr>
        <p:spPr>
          <a:xfrm>
            <a:off x="548640" y="1572768"/>
            <a:ext cx="64008" cy="466344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42" name="Group bullets"/>
          <p:cNvSpPr txBox="1"/>
          <p:nvPr/>
        </p:nvSpPr>
        <p:spPr>
          <a:xfrm>
            <a:off x="914400" y="1874520"/>
            <a:ext cx="10378440" cy="4059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Cada grupo Microsoft 365 incluye un calendario compartido.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miembros del grupo pueden consultar los eventos en el calendario del grupo.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miembros del grupo pueden crear y gestionar eventos en el calendario grupal.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eventos del calendario grupal son visibles para todos los miembros.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Invitar a un grupo a un evento añade el evento al calendario de los miembros del grupo.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calendarios grupales ayudan a coordinar las actividades entre el grupo.</a:t>
            </a:r>
          </a:p>
        </p:txBody>
      </p:sp>
      <p:pic>
        <p:nvPicPr>
          <p:cNvPr id="600" name="Microsoft 365 Groups icon" descr="Microsoft 365 Grup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786384" cy="786384"/>
          </a:xfrm>
          <a:prstGeom prst="rect">
            <a:avLst/>
          </a:prstGeom>
        </p:spPr>
      </p:pic>
      <p:pic>
        <p:nvPicPr>
          <p:cNvPr id="601" name="Group calendar icon" descr="Calendario de grup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777240"/>
            <a:ext cx="786384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Grupos y Equipos de Microsoft 365</a:t>
            </a:r>
            <a:endParaRPr lang="en-US" sz="2700" dirty="0"/>
          </a:p>
        </p:txBody>
      </p:sp>
      <p:sp>
        <p:nvSpPr>
          <p:cNvPr id="4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6464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1426464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Grupos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15384" y="9326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800" b="1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 dirty="0"/>
          </a:p>
        </p:txBody>
      </p:sp>
      <p:sp>
        <p:nvSpPr>
          <p:cNvPr id="7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41848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5B5FC7"/>
          </a:solidFill>
          <a:ln/>
        </p:spPr>
      </p:sp>
      <p:sp>
        <p:nvSpPr>
          <p:cNvPr id="8" name="Text 6"/>
          <p:cNvSpPr/>
          <p:nvPr/>
        </p:nvSpPr>
        <p:spPr>
          <a:xfrm>
            <a:off x="5641848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Teams</a:t>
            </a:r>
            <a:endParaRPr lang="en-US" sz="1200" dirty="0"/>
          </a:p>
        </p:txBody>
      </p:sp>
      <p:pic>
        <p:nvPicPr>
          <p:cNvPr id="600" name="Microsoft 365 Groups icon" descr="Microsoft 365 Grup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77240"/>
            <a:ext cx="786384" cy="786384"/>
          </a:xfrm>
          <a:prstGeom prst="rect">
            <a:avLst/>
          </a:prstGeom>
        </p:spPr>
      </p:pic>
      <p:pic>
        <p:nvPicPr>
          <p:cNvPr id="601" name="Microsoft Teams icon" descr="Microsoft Team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777240"/>
            <a:ext cx="786384" cy="786384"/>
          </a:xfrm>
          <a:prstGeom prst="rect">
            <a:avLst/>
          </a:prstGeom>
        </p:spPr>
      </p:pic>
      <p:sp>
        <p:nvSpPr>
          <p:cNvPr id="40" name="content card"/>
          <p:cNvSpPr/>
          <p:nvPr/>
        </p:nvSpPr>
        <p:spPr>
          <a:xfrm>
            <a:off x="548640" y="1572768"/>
            <a:ext cx="110642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</p:sp>
      <p:sp>
        <p:nvSpPr>
          <p:cNvPr id="41" name="card accent"/>
          <p:cNvSpPr/>
          <p:nvPr/>
        </p:nvSpPr>
        <p:spPr>
          <a:xfrm>
            <a:off x="548640" y="1572768"/>
            <a:ext cx="64008" cy="466344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42" name="Group bullets"/>
          <p:cNvSpPr txBox="1"/>
          <p:nvPr/>
        </p:nvSpPr>
        <p:spPr>
          <a:xfrm>
            <a:off x="914400" y="1874520"/>
            <a:ext cx="10378440" cy="4059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000" b="0">
                <a:solidFill>
                  <a:srgbClr val="1B1B1F"/>
                </a:solidFill>
                <a:latin typeface="Segoe UI"/>
              </a:rPr>
              <a:t>Cada equipo de Microsoft Teams está asociado a un Grupo Microsoft 365.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000" b="0">
                <a:solidFill>
                  <a:srgbClr val="1B1B1F"/>
                </a:solidFill>
                <a:latin typeface="Segoe UI"/>
              </a:rPr>
              <a:t>La membresía del equipo se basa en la membresía del Grupo Microsoft 365.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000" b="0">
                <a:solidFill>
                  <a:srgbClr val="1B1B1F"/>
                </a:solidFill>
                <a:latin typeface="Segoe UI"/>
              </a:rPr>
              <a:t>Añadir un miembro a un equipo añade al usuario al Grupo Microsoft 365 asociado.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000" b="0">
                <a:solidFill>
                  <a:srgbClr val="1B1B1F"/>
                </a:solidFill>
                <a:latin typeface="Segoe UI"/>
              </a:rPr>
              <a:t>Eliminar a un miembro de un equipo elimina al usuario del Grupo Microsoft 365 asociado.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000" b="0">
                <a:solidFill>
                  <a:srgbClr val="1B1B1F"/>
                </a:solidFill>
                <a:latin typeface="Segoe UI"/>
              </a:rPr>
              <a:t>Los propietarios de equipos también son propietarios del grupo Microsoft 365 asociado.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000" b="0">
                <a:solidFill>
                  <a:srgbClr val="1B1B1F"/>
                </a:solidFill>
                <a:latin typeface="Segoe UI"/>
              </a:rPr>
              <a:t>Microsoft 365 Groups proporciona la base de membresía para Teams.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000" b="0">
                <a:solidFill>
                  <a:srgbClr val="1B1B1F"/>
                </a:solidFill>
                <a:latin typeface="Segoe UI"/>
              </a:rPr>
              <a:t>Los cambios en la membresía del grupo se reflejan en el equipo.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Grupos y SharePoint</a:t>
            </a:r>
            <a:endParaRPr lang="en-US" sz="2700" dirty="0"/>
          </a:p>
        </p:txBody>
      </p:sp>
      <p:sp>
        <p:nvSpPr>
          <p:cNvPr id="4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6464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1426464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Grupos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15384" y="9326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800" b="1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 dirty="0"/>
          </a:p>
        </p:txBody>
      </p:sp>
      <p:sp>
        <p:nvSpPr>
          <p:cNvPr id="7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41848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038387"/>
          </a:solidFill>
          <a:ln/>
        </p:spPr>
      </p:sp>
      <p:sp>
        <p:nvSpPr>
          <p:cNvPr id="8" name="Text 6"/>
          <p:cNvSpPr/>
          <p:nvPr/>
        </p:nvSpPr>
        <p:spPr>
          <a:xfrm>
            <a:off x="5641848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</a:t>
            </a:r>
            <a:endParaRPr lang="en-US" sz="1200" dirty="0"/>
          </a:p>
        </p:txBody>
      </p:sp>
      <p:pic>
        <p:nvPicPr>
          <p:cNvPr id="600" name="Microsoft 365 Groups icon" descr="Microsoft 365 Grup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77240"/>
            <a:ext cx="786384" cy="786384"/>
          </a:xfrm>
          <a:prstGeom prst="rect">
            <a:avLst/>
          </a:prstGeom>
        </p:spPr>
      </p:pic>
      <p:pic>
        <p:nvPicPr>
          <p:cNvPr id="601" name="SharePoint icon" descr="SharePoi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777240"/>
            <a:ext cx="786384" cy="786384"/>
          </a:xfrm>
          <a:prstGeom prst="rect">
            <a:avLst/>
          </a:prstGeom>
        </p:spPr>
      </p:pic>
      <p:sp>
        <p:nvSpPr>
          <p:cNvPr id="40" name="content card"/>
          <p:cNvSpPr/>
          <p:nvPr/>
        </p:nvSpPr>
        <p:spPr>
          <a:xfrm>
            <a:off x="548640" y="1572768"/>
            <a:ext cx="110642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</p:sp>
      <p:sp>
        <p:nvSpPr>
          <p:cNvPr id="41" name="card accent"/>
          <p:cNvSpPr/>
          <p:nvPr/>
        </p:nvSpPr>
        <p:spPr>
          <a:xfrm>
            <a:off x="548640" y="1572768"/>
            <a:ext cx="64008" cy="466344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42" name="Group bullets"/>
          <p:cNvSpPr txBox="1"/>
          <p:nvPr/>
        </p:nvSpPr>
        <p:spPr>
          <a:xfrm>
            <a:off x="914400" y="1874520"/>
            <a:ext cx="10378440" cy="4059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Cada grupo de Microsoft 365 incluye un sitio de equipo de SharePoint.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miembros del grupo reciben automáticamente acceso al sitio de SharePoint asociado.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permisos de los sitios de SharePoint se basan en la pertenencia al grupo.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Añadir o eliminar miembros del grupo actualiza el acceso al sitio de SharePoint.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documentos y contenidos almacenados en el sitio de SharePoint se comparten con los miembros del grupo.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SharePoint proporciona el espacio de trabajo de contenido colaborativo para el grupo.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Perspectivas y equipos</a:t>
            </a:r>
            <a:endParaRPr lang="en-US" sz="2700" dirty="0"/>
          </a:p>
        </p:txBody>
      </p:sp>
      <p:sp>
        <p:nvSpPr>
          <p:cNvPr id="4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6464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1426464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Perspectivas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15384" y="9326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800" b="1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 dirty="0"/>
          </a:p>
        </p:txBody>
      </p:sp>
      <p:sp>
        <p:nvSpPr>
          <p:cNvPr id="7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41848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5B5FC7"/>
          </a:solidFill>
          <a:ln/>
        </p:spPr>
      </p:sp>
      <p:sp>
        <p:nvSpPr>
          <p:cNvPr id="8" name="Text 6"/>
          <p:cNvSpPr/>
          <p:nvPr/>
        </p:nvSpPr>
        <p:spPr>
          <a:xfrm>
            <a:off x="5641848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Teams</a:t>
            </a:r>
            <a:endParaRPr lang="en-US" sz="1200" dirty="0"/>
          </a:p>
        </p:txBody>
      </p:sp>
      <p:pic>
        <p:nvPicPr>
          <p:cNvPr id="600" name="Outlook icon" descr="Perspectiv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77240"/>
            <a:ext cx="786384" cy="786384"/>
          </a:xfrm>
          <a:prstGeom prst="rect">
            <a:avLst/>
          </a:prstGeom>
        </p:spPr>
      </p:pic>
      <p:pic>
        <p:nvPicPr>
          <p:cNvPr id="601" name="Microsoft Teams icon" descr="Microsoft Team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777240"/>
            <a:ext cx="786384" cy="786384"/>
          </a:xfrm>
          <a:prstGeom prst="rect">
            <a:avLst/>
          </a:prstGeom>
        </p:spPr>
      </p:pic>
      <p:sp>
        <p:nvSpPr>
          <p:cNvPr id="40" name="content card"/>
          <p:cNvSpPr/>
          <p:nvPr/>
        </p:nvSpPr>
        <p:spPr>
          <a:xfrm>
            <a:off x="548640" y="1572768"/>
            <a:ext cx="110642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</p:sp>
      <p:sp>
        <p:nvSpPr>
          <p:cNvPr id="41" name="card accent"/>
          <p:cNvSpPr/>
          <p:nvPr/>
        </p:nvSpPr>
        <p:spPr>
          <a:xfrm>
            <a:off x="548640" y="1572768"/>
            <a:ext cx="64008" cy="466344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42" name="Group bullets"/>
          <p:cNvSpPr txBox="1"/>
          <p:nvPr/>
        </p:nvSpPr>
        <p:spPr>
          <a:xfrm>
            <a:off x="914400" y="1874520"/>
            <a:ext cx="10378440" cy="4059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Outlook y Teams comparten el mismo calendario de Microsoft 365.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Las reuniones de Teams pueden programarse directamente desde Outlook.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Las reuniones de Teams creadas en Outlook aparecen en Teams.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Las invitaciones y actualizaciones de reuniones se entregan a través de Outlook.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usuarios pueden unirse a las reuniones de Teams directamente desde Outlook.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Outlook y Teams ofrecen una experiencia unificada de reuniones y programación.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Outlook, SharePoint y OneDrive</a:t>
            </a:r>
            <a:endParaRPr lang="en-US" sz="2700" dirty="0"/>
          </a:p>
        </p:txBody>
      </p:sp>
      <p:sp>
        <p:nvSpPr>
          <p:cNvPr id="50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72184" y="932688"/>
            <a:ext cx="2286000" cy="438912"/>
          </a:xfrm>
          <a:prstGeom prst="roundRect">
            <a:avLst>
              <a:gd name="adj" fmla="val 41667"/>
            </a:avLst>
          </a:prstGeom>
          <a:solidFill>
            <a:srgbClr val="0078D4"/>
          </a:solidFill>
          <a:ln/>
        </p:spPr>
      </p:sp>
      <p:sp>
        <p:nvSpPr>
          <p:cNvPr id="51" name="Text 3"/>
          <p:cNvSpPr/>
          <p:nvPr/>
        </p:nvSpPr>
        <p:spPr>
          <a:xfrm>
            <a:off x="1472184" y="932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Perspectivas</a:t>
            </a:r>
            <a:endParaRPr lang="en-US" sz="1200"/>
          </a:p>
        </p:txBody>
      </p:sp>
      <p:pic>
        <p:nvPicPr>
          <p:cNvPr id="70" name="Outlook icon" descr="Perspectiv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77240"/>
            <a:ext cx="786384" cy="786384"/>
          </a:xfrm>
          <a:prstGeom prst="rect">
            <a:avLst/>
          </a:prstGeom>
        </p:spPr>
      </p:pic>
      <p:sp>
        <p:nvSpPr>
          <p:cNvPr id="53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21224" y="932688"/>
            <a:ext cx="2286000" cy="438912"/>
          </a:xfrm>
          <a:prstGeom prst="roundRect">
            <a:avLst>
              <a:gd name="adj" fmla="val 41667"/>
            </a:avLst>
          </a:prstGeom>
          <a:solidFill>
            <a:srgbClr val="038387"/>
          </a:solidFill>
          <a:ln/>
        </p:spPr>
      </p:sp>
      <p:sp>
        <p:nvSpPr>
          <p:cNvPr id="54" name="Text 3"/>
          <p:cNvSpPr/>
          <p:nvPr/>
        </p:nvSpPr>
        <p:spPr>
          <a:xfrm>
            <a:off x="5221224" y="932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</a:t>
            </a:r>
            <a:endParaRPr lang="en-US" sz="1200"/>
          </a:p>
        </p:txBody>
      </p:sp>
      <p:pic>
        <p:nvPicPr>
          <p:cNvPr id="71" name="SharePoint icon" descr="SharePoi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777240"/>
            <a:ext cx="786384" cy="786384"/>
          </a:xfrm>
          <a:prstGeom prst="rect">
            <a:avLst/>
          </a:prstGeom>
        </p:spPr>
      </p:pic>
      <p:sp>
        <p:nvSpPr>
          <p:cNvPr id="56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70264" y="932688"/>
            <a:ext cx="2286000" cy="438912"/>
          </a:xfrm>
          <a:prstGeom prst="roundRect">
            <a:avLst>
              <a:gd name="adj" fmla="val 41667"/>
            </a:avLst>
          </a:prstGeom>
          <a:solidFill>
            <a:srgbClr val="0364B8"/>
          </a:solidFill>
          <a:ln/>
        </p:spPr>
      </p:sp>
      <p:sp>
        <p:nvSpPr>
          <p:cNvPr id="57" name="Text 3"/>
          <p:cNvSpPr/>
          <p:nvPr/>
        </p:nvSpPr>
        <p:spPr>
          <a:xfrm>
            <a:off x="8970264" y="932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</a:t>
            </a:r>
            <a:endParaRPr lang="en-US" sz="1200"/>
          </a:p>
        </p:txBody>
      </p:sp>
      <p:pic>
        <p:nvPicPr>
          <p:cNvPr id="72" name="OneDrive icon" descr="OneDriv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777240"/>
            <a:ext cx="786384" cy="786384"/>
          </a:xfrm>
          <a:prstGeom prst="rect">
            <a:avLst/>
          </a:prstGeom>
        </p:spPr>
      </p:pic>
      <p:sp>
        <p:nvSpPr>
          <p:cNvPr id="80" name="Text 4"/>
          <p:cNvSpPr/>
          <p:nvPr/>
        </p:nvSpPr>
        <p:spPr>
          <a:xfrm>
            <a:off x="3803904" y="93268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800" b="1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/>
          </a:p>
        </p:txBody>
      </p:sp>
      <p:sp>
        <p:nvSpPr>
          <p:cNvPr id="81" name="Text 4"/>
          <p:cNvSpPr/>
          <p:nvPr/>
        </p:nvSpPr>
        <p:spPr>
          <a:xfrm>
            <a:off x="7552944" y="93268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800" b="1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/>
          </a:p>
        </p:txBody>
      </p:sp>
      <p:sp>
        <p:nvSpPr>
          <p:cNvPr id="40" name="content card"/>
          <p:cNvSpPr/>
          <p:nvPr/>
        </p:nvSpPr>
        <p:spPr>
          <a:xfrm>
            <a:off x="548640" y="1572768"/>
            <a:ext cx="110642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</p:sp>
      <p:sp>
        <p:nvSpPr>
          <p:cNvPr id="41" name="card accent"/>
          <p:cNvSpPr/>
          <p:nvPr/>
        </p:nvSpPr>
        <p:spPr>
          <a:xfrm>
            <a:off x="548640" y="1572768"/>
            <a:ext cx="64008" cy="466344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42" name="Group bullets"/>
          <p:cNvSpPr txBox="1"/>
          <p:nvPr/>
        </p:nvSpPr>
        <p:spPr>
          <a:xfrm>
            <a:off x="914400" y="1874520"/>
            <a:ext cx="10378440" cy="4059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correos electrónicos pueden incluir enlaces a archivos almacenados en SharePoint y OneDrive.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usuarios pueden compartir archivos desde SharePoint y OneDrive directamente desde Outlook.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permisos de archivo pueden gestionarse al compartir enlaces en Outlook.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destinatarios pueden colaborar en documentos compartidos sin adjuntos de correo electrónico.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Las actualizaciones de los archivos compartidos se reflejan automáticamente porque el contenido permanece almacenado en SharePoint o OneDrive.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Outlook ayuda a distribuir y colaborar en el contenido almacenado en Microsoft 365.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Teams, SharePoint y OneDrive</a:t>
            </a:r>
            <a:endParaRPr lang="en-US" sz="2700"/>
          </a:p>
        </p:txBody>
      </p:sp>
      <p:sp>
        <p:nvSpPr>
          <p:cNvPr id="50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72184" y="932688"/>
            <a:ext cx="2286000" cy="438912"/>
          </a:xfrm>
          <a:prstGeom prst="roundRect">
            <a:avLst>
              <a:gd name="adj" fmla="val 41667"/>
            </a:avLst>
          </a:prstGeom>
          <a:solidFill>
            <a:srgbClr val="5B5FC7"/>
          </a:solidFill>
          <a:ln/>
        </p:spPr>
      </p:sp>
      <p:sp>
        <p:nvSpPr>
          <p:cNvPr id="51" name="Text 3"/>
          <p:cNvSpPr/>
          <p:nvPr/>
        </p:nvSpPr>
        <p:spPr>
          <a:xfrm>
            <a:off x="1472184" y="932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Teams</a:t>
            </a:r>
            <a:endParaRPr lang="en-US" sz="1200"/>
          </a:p>
        </p:txBody>
      </p:sp>
      <p:pic>
        <p:nvPicPr>
          <p:cNvPr id="70" name="Teams icon" descr="Perspectiv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786384" cy="786384"/>
          </a:xfrm>
          <a:prstGeom prst="rect">
            <a:avLst/>
          </a:prstGeom>
        </p:spPr>
      </p:pic>
      <p:sp>
        <p:nvSpPr>
          <p:cNvPr id="53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21224" y="932688"/>
            <a:ext cx="2286000" cy="438912"/>
          </a:xfrm>
          <a:prstGeom prst="roundRect">
            <a:avLst>
              <a:gd name="adj" fmla="val 41667"/>
            </a:avLst>
          </a:prstGeom>
          <a:solidFill>
            <a:srgbClr val="038387"/>
          </a:solidFill>
          <a:ln/>
        </p:spPr>
      </p:sp>
      <p:sp>
        <p:nvSpPr>
          <p:cNvPr id="54" name="Text 3"/>
          <p:cNvSpPr/>
          <p:nvPr/>
        </p:nvSpPr>
        <p:spPr>
          <a:xfrm>
            <a:off x="5221224" y="932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</a:t>
            </a:r>
            <a:endParaRPr lang="en-US" sz="1200"/>
          </a:p>
        </p:txBody>
      </p:sp>
      <p:pic>
        <p:nvPicPr>
          <p:cNvPr id="71" name="SharePoint icon" descr="SharePoi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777240"/>
            <a:ext cx="786384" cy="786384"/>
          </a:xfrm>
          <a:prstGeom prst="rect">
            <a:avLst/>
          </a:prstGeom>
        </p:spPr>
      </p:pic>
      <p:sp>
        <p:nvSpPr>
          <p:cNvPr id="56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70264" y="932688"/>
            <a:ext cx="2286000" cy="438912"/>
          </a:xfrm>
          <a:prstGeom prst="roundRect">
            <a:avLst>
              <a:gd name="adj" fmla="val 41667"/>
            </a:avLst>
          </a:prstGeom>
          <a:solidFill>
            <a:srgbClr val="0364B8"/>
          </a:solidFill>
          <a:ln/>
        </p:spPr>
      </p:sp>
      <p:sp>
        <p:nvSpPr>
          <p:cNvPr id="57" name="Text 3"/>
          <p:cNvSpPr/>
          <p:nvPr/>
        </p:nvSpPr>
        <p:spPr>
          <a:xfrm>
            <a:off x="8970264" y="932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</a:t>
            </a:r>
            <a:endParaRPr lang="en-US" sz="1200"/>
          </a:p>
        </p:txBody>
      </p:sp>
      <p:pic>
        <p:nvPicPr>
          <p:cNvPr id="72" name="OneDrive icon" descr="OneDriv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777240"/>
            <a:ext cx="786384" cy="786384"/>
          </a:xfrm>
          <a:prstGeom prst="rect">
            <a:avLst/>
          </a:prstGeom>
        </p:spPr>
      </p:pic>
      <p:sp>
        <p:nvSpPr>
          <p:cNvPr id="80" name="Text 4"/>
          <p:cNvSpPr/>
          <p:nvPr/>
        </p:nvSpPr>
        <p:spPr>
          <a:xfrm>
            <a:off x="3803904" y="93268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800" b="1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/>
          </a:p>
        </p:txBody>
      </p:sp>
      <p:sp>
        <p:nvSpPr>
          <p:cNvPr id="81" name="Text 4"/>
          <p:cNvSpPr/>
          <p:nvPr/>
        </p:nvSpPr>
        <p:spPr>
          <a:xfrm>
            <a:off x="7552944" y="93268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800" b="1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/>
          </a:p>
        </p:txBody>
      </p:sp>
      <p:sp>
        <p:nvSpPr>
          <p:cNvPr id="40" name="content card"/>
          <p:cNvSpPr/>
          <p:nvPr/>
        </p:nvSpPr>
        <p:spPr>
          <a:xfrm>
            <a:off x="548640" y="1572768"/>
            <a:ext cx="110642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</p:sp>
      <p:sp>
        <p:nvSpPr>
          <p:cNvPr id="41" name="card accent"/>
          <p:cNvSpPr/>
          <p:nvPr/>
        </p:nvSpPr>
        <p:spPr>
          <a:xfrm>
            <a:off x="548640" y="1572768"/>
            <a:ext cx="64008" cy="466344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42" name="Group bullets"/>
          <p:cNvSpPr txBox="1"/>
          <p:nvPr/>
        </p:nvSpPr>
        <p:spPr>
          <a:xfrm>
            <a:off x="914400" y="1874520"/>
            <a:ext cx="10378440" cy="4059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archivos compartidos en los canales de Teams se almacenan en SharePoint.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archivos compartidos en los chats de Teams se almacenan en OneDrive.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miembros del equipo pueden colaborar en documentos compartidos directamente desde Teams.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cambios realizados en los archivos están disponibles para todos los usuarios autorizados en tiempo real.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Teams ofrece una única interfaz para acceder al contenido almacenado en SharePoint y OneDrive.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2200" b="0">
                <a:solidFill>
                  <a:srgbClr val="1B1B1F"/>
                </a:solidFill>
                <a:latin typeface="Segoe UI"/>
              </a:rPr>
              <a:t>Los permisos de archivo se gestionan a través del almacenamiento subyacente de SharePoint y OneDrive.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se integra Copilot con el ecosistema</a:t>
            </a:r>
            <a:endParaRPr lang="en-US" sz="2700"/>
          </a:p>
        </p:txBody>
      </p:sp>
      <p:sp>
        <p:nvSpPr>
          <p:cNvPr id="4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6464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8661C5"/>
          </a:solidFill>
          <a:ln/>
        </p:spPr>
      </p:sp>
      <p:sp>
        <p:nvSpPr>
          <p:cNvPr id="5" name="Text 3"/>
          <p:cNvSpPr/>
          <p:nvPr/>
        </p:nvSpPr>
        <p:spPr>
          <a:xfrm>
            <a:off x="1426464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</a:t>
            </a:r>
            <a:endParaRPr lang="en-US" sz="1200"/>
          </a:p>
        </p:txBody>
      </p:sp>
      <p:sp>
        <p:nvSpPr>
          <p:cNvPr id="40" name="content card"/>
          <p:cNvSpPr/>
          <p:nvPr/>
        </p:nvSpPr>
        <p:spPr>
          <a:xfrm>
            <a:off x="548640" y="1572768"/>
            <a:ext cx="110642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</p:sp>
      <p:sp>
        <p:nvSpPr>
          <p:cNvPr id="41" name="card accent"/>
          <p:cNvSpPr/>
          <p:nvPr/>
        </p:nvSpPr>
        <p:spPr>
          <a:xfrm>
            <a:off x="548640" y="1572768"/>
            <a:ext cx="64008" cy="466344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42" name="Group bullets"/>
          <p:cNvSpPr txBox="1"/>
          <p:nvPr/>
        </p:nvSpPr>
        <p:spPr>
          <a:xfrm>
            <a:off x="914400" y="1874520"/>
            <a:ext cx="10378440" cy="4059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1900" b="0">
                <a:solidFill>
                  <a:srgbClr val="1B1B1F"/>
                </a:solidFill>
                <a:latin typeface="Segoe UI"/>
              </a:rPr>
              <a:t>Copilot funciona en el contenido y las conversaciones que el usuario ya tiene permitido abrir.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1900" b="0">
                <a:solidFill>
                  <a:srgbClr val="1B1B1F"/>
                </a:solidFill>
                <a:latin typeface="Segoe UI"/>
              </a:rPr>
              <a:t>En Outlook resume los hilos de correo electrónico y redacta las respuestas a partir del contenido del buzón.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1900" b="0">
                <a:solidFill>
                  <a:srgbClr val="1B1B1F"/>
                </a:solidFill>
                <a:latin typeface="Segoe UI"/>
              </a:rPr>
              <a:t>En Teams resume reuniones y conversaciones en chat.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1900" b="0">
                <a:solidFill>
                  <a:srgbClr val="1B1B1F"/>
                </a:solidFill>
                <a:latin typeface="Segoe UI"/>
              </a:rPr>
              <a:t>En SharePoint y OneDrive se basa en documentos a los que el usuario puede acceder.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1900" b="0">
                <a:solidFill>
                  <a:srgbClr val="1B1B1F"/>
                </a:solidFill>
                <a:latin typeface="Segoe UI"/>
              </a:rPr>
              <a:t>La pertenencia al grupo y los permisos del sitio definen lo que Copilot puede usar.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s" sz="1900" b="0">
                <a:solidFill>
                  <a:srgbClr val="1B1B1F"/>
                </a:solidFill>
                <a:latin typeface="Segoe UI"/>
              </a:rPr>
              <a:t>Copilot añade una capa de inteligencia; no crea nuevas copias del contenido.</a:t>
            </a:r>
          </a:p>
        </p:txBody>
      </p:sp>
      <p:pic>
        <p:nvPicPr>
          <p:cNvPr id="600" name="Copilot icon" descr="Microsoft 365 Grup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786384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03838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Matriz de integración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4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etiqueta por par, listada una vez: ningún par se repite en ambas direcciones</a:t>
            </a:r>
            <a:endParaRPr lang="en-US" sz="1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81503"/>
              </p:ext>
            </p:extLst>
          </p:nvPr>
        </p:nvGraphicFramePr>
        <p:xfrm>
          <a:off x="548640" y="1417320"/>
          <a:ext cx="11064240" cy="38862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3000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3001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3002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3003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3004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3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Perspectivas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Equipos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SharePoint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OneDrive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Calendario de grupos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1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365 Grupos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Correo de grupo y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Calendario de grupos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Membresía compartida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Sitio del equipo conectado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directo 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Relación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Calendario compartido de grupos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2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Perspectivas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Reuniones y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Comunicación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Enlaces a documentos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Accesorios de nubes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Calendario de grupos en Outlook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3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Equipos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Almacenamiento de archivos de canal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Almacenamiento de archivos de chat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Enlace de reuniones de equipos sobre eventos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4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SharePoint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Almacenamiento compartido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Tecnología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 relación directa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5"/>
                  </a:ext>
                </a:extLst>
              </a:tr>
            </a:tbl>
          </a:graphicData>
        </a:graphic>
      </p:graphicFrame>
      <p:sp>
        <p:nvSpPr>
          <p:cNvPr id="6" name="callou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577840"/>
            <a:ext cx="11064240" cy="713232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7" name="callou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577840"/>
            <a:ext cx="64008" cy="713232"/>
          </a:xfrm>
          <a:prstGeom prst="rect">
            <a:avLst/>
          </a:prstGeom>
          <a:solidFill>
            <a:srgbClr val="038387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56052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300" b="1">
                <a:solidFill>
                  <a:srgbClr val="0383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leerlo   </a:t>
            </a:r>
            <a:r>
              <a:rPr lang="e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celdas sombreadas son la mitad espejada de la matriz: cada par único, incluido el calendario de grupos, se describe una vez en la mitad superior.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Reglas clave a recordar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4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afirmaciones que resuelven la mayor parte de la confusión sobre la colaboración con Microsoft 365</a:t>
            </a:r>
            <a:endParaRPr lang="en-US" sz="1400" dirty="0"/>
          </a:p>
        </p:txBody>
      </p:sp>
      <p:sp>
        <p:nvSpPr>
          <p:cNvPr id="5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64008" cy="41148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481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100" b="1" kern="0" spc="10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1773936"/>
            <a:ext cx="309067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" sz="125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equipo estándar tiene un Grupo Microsoft 365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" sz="125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equipo estándar tiene uno o más sitios de SharePoint conectados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" sz="125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grupo de Microsoft 365 tiene un sitio de equipo de SharePoint conectado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" sz="125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todos los grupos de Microsoft 365 tienen un equipo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" sz="125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todos los sitios de SharePoint tienen un Grupo Microsoft 365</a:t>
            </a:r>
            <a:endParaRPr lang="en-US" sz="1250" dirty="0"/>
          </a:p>
        </p:txBody>
      </p:sp>
      <p:sp>
        <p:nvSpPr>
          <p:cNvPr id="9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7680" y="137160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7680" y="1371600"/>
            <a:ext cx="64008" cy="4114800"/>
          </a:xfrm>
          <a:prstGeom prst="rect">
            <a:avLst/>
          </a:prstGeom>
          <a:solidFill>
            <a:srgbClr val="038387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481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100" b="1" kern="0" spc="100">
                <a:solidFill>
                  <a:srgbClr val="0383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ALMACENAMIENTO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35424" y="1773936"/>
            <a:ext cx="309067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" sz="125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es principalmente para archivos personales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" sz="125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 es principalmente para archivos organizativos compartidos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" sz="125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archivos de chat de Teams y los archivos de canal de Teams utilizan diferentes modelos de almacenamiento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" sz="125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correo grupal y el correo de canal son diferentes</a:t>
            </a:r>
            <a:endParaRPr lang="en-US" sz="1250" dirty="0"/>
          </a:p>
        </p:txBody>
      </p:sp>
      <p:sp>
        <p:nvSpPr>
          <p:cNvPr id="13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137160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1371600"/>
            <a:ext cx="64008" cy="4114800"/>
          </a:xfrm>
          <a:prstGeom prst="rect">
            <a:avLst/>
          </a:prstGeom>
          <a:solidFill>
            <a:srgbClr val="8661C5"/>
          </a:solidFill>
          <a:ln/>
        </p:spPr>
      </p:sp>
      <p:sp>
        <p:nvSpPr>
          <p:cNvPr id="15" name="Text 13"/>
          <p:cNvSpPr/>
          <p:nvPr/>
        </p:nvSpPr>
        <p:spPr>
          <a:xfrm>
            <a:off x="8302752" y="1481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100" b="1" kern="0" spc="10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CALENDARIOS Y COPILOT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84464" y="1773936"/>
            <a:ext cx="309067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" sz="125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calendario grupal y el calendario personal son diferentes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" sz="125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Habilitar una reunión de Teams no invita automáticamente a todos los miembros del Grupo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" sz="125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utiliza únicamente información a la que el usuario está autorizado a acceder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" sz="125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Otros productos de Microsoft 365 amplían el ecosistema de colaboración</a:t>
            </a:r>
            <a:endParaRPr lang="en-US" sz="1250" dirty="0"/>
          </a:p>
        </p:txBody>
      </p:sp>
      <p:sp>
        <p:nvSpPr>
          <p:cNvPr id="17" name="callou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715000"/>
            <a:ext cx="11064240" cy="713232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18" name="callou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715000"/>
            <a:ext cx="64008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574243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1300" b="1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 esto como prueba   </a:t>
            </a:r>
            <a:r>
              <a:rPr lang="e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una afirmación contradice alguna de estas reglas, comprueba dónde se almacena realmente el contenido y qué membresía otorga el acceso.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8661C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" sz="2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modelo mental</a:t>
            </a:r>
            <a:endParaRPr lang="en-US" sz="2700" dirty="0"/>
          </a:p>
        </p:txBody>
      </p:sp>
      <p:sp>
        <p:nvSpPr>
          <p:cNvPr id="4" name="Copilot lay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solidFill>
            <a:srgbClr val="3B2B63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400" b="1">
                <a:solidFill>
                  <a:srgbClr val="DCC9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- contexto autorizado en todo el ecosistema</a:t>
            </a:r>
            <a:endParaRPr lang="en-US" sz="1400" dirty="0"/>
          </a:p>
        </p:txBody>
      </p:sp>
      <p:sp>
        <p:nvSpPr>
          <p:cNvPr id="6" name="model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874520"/>
            <a:ext cx="3566160" cy="1143000"/>
          </a:xfrm>
          <a:prstGeom prst="rect">
            <a:avLst/>
          </a:prstGeom>
          <a:solidFill>
            <a:srgbClr val="1B3A61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7" name="ti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874520"/>
            <a:ext cx="3566160" cy="6400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57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Perspectivas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" sz="1150">
                <a:solidFill>
                  <a:srgbClr val="B9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Correo electrónico y calendario, incluido el calendario del grupo</a:t>
            </a:r>
            <a:endParaRPr lang="en-US" sz="1150" dirty="0"/>
          </a:p>
        </p:txBody>
      </p:sp>
      <p:sp>
        <p:nvSpPr>
          <p:cNvPr id="10" name="model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7680" y="1874520"/>
            <a:ext cx="3566160" cy="1143000"/>
          </a:xfrm>
          <a:prstGeom prst="rect">
            <a:avLst/>
          </a:prstGeom>
          <a:solidFill>
            <a:srgbClr val="1B3A61"/>
          </a:solidFill>
          <a:ln w="19050">
            <a:solidFill>
              <a:srgbClr val="5B5FC7"/>
            </a:solidFill>
            <a:prstDash val="solid"/>
          </a:ln>
        </p:spPr>
      </p:sp>
      <p:sp>
        <p:nvSpPr>
          <p:cNvPr id="11" name="ti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7680" y="1874520"/>
            <a:ext cx="3566160" cy="64008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057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Teams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34840" y="2377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" sz="1150">
                <a:solidFill>
                  <a:srgbClr val="B9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Canles, publicaciones, chats, reuniones; cada equipo estándar tiene un grupo</a:t>
            </a:r>
            <a:endParaRPr lang="en-US" sz="1150" dirty="0"/>
          </a:p>
        </p:txBody>
      </p:sp>
      <p:sp>
        <p:nvSpPr>
          <p:cNvPr id="14" name="model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1874520"/>
            <a:ext cx="3566160" cy="1143000"/>
          </a:xfrm>
          <a:prstGeom prst="rect">
            <a:avLst/>
          </a:prstGeom>
          <a:solidFill>
            <a:srgbClr val="1B3A61"/>
          </a:solidFill>
          <a:ln w="19050">
            <a:solidFill>
              <a:srgbClr val="038387"/>
            </a:solidFill>
            <a:prstDash val="solid"/>
          </a:ln>
        </p:spPr>
      </p:sp>
      <p:sp>
        <p:nvSpPr>
          <p:cNvPr id="15" name="ti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1874520"/>
            <a:ext cx="3566160" cy="64008"/>
          </a:xfrm>
          <a:prstGeom prst="rect">
            <a:avLst/>
          </a:prstGeom>
          <a:solidFill>
            <a:srgbClr val="038387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2057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83880" y="2377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" sz="1150">
                <a:solidFill>
                  <a:srgbClr val="B9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organizativo compartido; un sitio de equipo para cada grupo</a:t>
            </a:r>
            <a:endParaRPr lang="en-US" sz="1150" dirty="0"/>
          </a:p>
        </p:txBody>
      </p:sp>
      <p:sp>
        <p:nvSpPr>
          <p:cNvPr id="18" name="model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154680"/>
            <a:ext cx="5486400" cy="1143000"/>
          </a:xfrm>
          <a:prstGeom prst="rect">
            <a:avLst/>
          </a:prstGeom>
          <a:solidFill>
            <a:srgbClr val="1B3A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i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154680"/>
            <a:ext cx="548640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3375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Grupos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657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" sz="1150">
                <a:solidFill>
                  <a:srgbClr val="B9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Organizar la membresía compartida y los recursos conectados</a:t>
            </a:r>
            <a:endParaRPr lang="en-US" sz="1150" dirty="0"/>
          </a:p>
        </p:txBody>
      </p:sp>
      <p:sp>
        <p:nvSpPr>
          <p:cNvPr id="22" name="model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3154680"/>
            <a:ext cx="5394960" cy="1143000"/>
          </a:xfrm>
          <a:prstGeom prst="rect">
            <a:avLst/>
          </a:prstGeom>
          <a:solidFill>
            <a:srgbClr val="1B3A61"/>
          </a:solidFill>
          <a:ln w="19050">
            <a:solidFill>
              <a:srgbClr val="0364B8"/>
            </a:solidFill>
            <a:prstDash val="solid"/>
          </a:ln>
        </p:spPr>
      </p:sp>
      <p:sp>
        <p:nvSpPr>
          <p:cNvPr id="23" name="ti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3154680"/>
            <a:ext cx="5394960" cy="64008"/>
          </a:xfrm>
          <a:prstGeom prst="rect">
            <a:avLst/>
          </a:prstGeom>
          <a:solidFill>
            <a:srgbClr val="0364B8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3375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3657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" sz="1150">
                <a:solidFill>
                  <a:srgbClr val="B9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personales de trabajo, propiedad individual, construido sobre tecnología SharePoint</a:t>
            </a:r>
            <a:endParaRPr lang="en-US" sz="1150" dirty="0"/>
          </a:p>
        </p:txBody>
      </p:sp>
      <p:sp>
        <p:nvSpPr>
          <p:cNvPr id="26" name="extended services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solidFill>
            <a:srgbClr val="2A4A2E"/>
          </a:solidFill>
          <a:ln w="12700">
            <a:solidFill>
              <a:srgbClr val="9BD4A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50" b="1">
                <a:solidFill>
                  <a:srgbClr val="C8E6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Planner · Forms · OneNote · Loop · Stream · Viva Engage - amplía la experiencia de colaboración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4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grupos organizan la membresía · las aplicaciones proporcionan las experiencias · SharePoint y OneDrive contienen el contenido · Copilot funciona dentro de los permisos existentes</a:t>
            </a:r>
            <a:endParaRPr lang="en-US" sz="1400" dirty="0"/>
          </a:p>
        </p:txBody>
      </p:sp>
      <p:sp>
        <p:nvSpPr>
          <p:cNvPr id="60" name="closing rule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solidFill>
            <a:srgbClr val="17304F"/>
          </a:solidFill>
          <a:ln w="12700">
            <a:solidFill>
              <a:srgbClr val="4F8FD1"/>
            </a:solidFill>
            <a:prstDash val="solid"/>
          </a:ln>
        </p:spPr>
      </p:sp>
      <p:sp>
        <p:nvSpPr>
          <p:cNvPr id="61" name="Text closing rule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" sz="1250" b="1">
                <a:solidFill>
                  <a:srgbClr val="DCE8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Enlaces obligatorios: cada grupo tiene un sitio de equipo en SharePoint y cada equipo estándar tiene un grupo; Teams y los servicios extendidos son añadidos opcionales.</a:t>
            </a:r>
            <a:endParaRPr lang="en-US" sz="1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68</cp:revision>
  <dcterms:created xsi:type="dcterms:W3CDTF">2026-10-01T02:50:30Z</dcterms:created>
  <dcterms:modified xsi:type="dcterms:W3CDTF">2026-10-01T04:14:04Z</dcterms:modified>
</cp:coreProperties>
</file>